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media/image7.png" ContentType="image/jpeg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76" r:id="rId3"/>
    <p:sldId id="257" r:id="rId4"/>
    <p:sldId id="258" r:id="rId5"/>
    <p:sldId id="259" r:id="rId6"/>
    <p:sldId id="267" r:id="rId7"/>
    <p:sldId id="269" r:id="rId8"/>
    <p:sldId id="268" r:id="rId9"/>
    <p:sldId id="261" r:id="rId10"/>
    <p:sldId id="264" r:id="rId11"/>
    <p:sldId id="270" r:id="rId12"/>
    <p:sldId id="271" r:id="rId13"/>
    <p:sldId id="260" r:id="rId14"/>
    <p:sldId id="272" r:id="rId15"/>
    <p:sldId id="274" r:id="rId16"/>
    <p:sldId id="265" r:id="rId17"/>
    <p:sldId id="273" r:id="rId18"/>
    <p:sldId id="277" r:id="rId19"/>
    <p:sldId id="278" r:id="rId20"/>
    <p:sldId id="279" r:id="rId21"/>
    <p:sldId id="280" r:id="rId22"/>
    <p:sldId id="282" r:id="rId23"/>
    <p:sldId id="275" r:id="rId24"/>
    <p:sldId id="266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85" autoAdjust="0"/>
    <p:restoredTop sz="95026" autoAdjust="0"/>
  </p:normalViewPr>
  <p:slideViewPr>
    <p:cSldViewPr snapToGrid="0">
      <p:cViewPr varScale="1">
        <p:scale>
          <a:sx n="86" d="100"/>
          <a:sy n="86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editorial learning-platform image created for this presentation.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6B98C-0935-0F8E-A748-8664612E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FCA83-09BF-BBF9-B5F0-80EFE6B23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6CDCE-84A4-410F-2ECC-1DABA1D37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BFAE5-0879-10DA-EB54-0F920B1EC94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7613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editorial learning-platform image created for this presentation.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690B3-7202-D2C0-DDAC-B5E1CF65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40BAC-CA7D-ED49-1226-665EB8F26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BC2E2-393B-0DBF-43A7-BDBFD35D0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editorial learning-platform image created for this presentation.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4F71C-7277-957D-F752-94101D0DA88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3105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B6E5-9E9C-36D1-B71A-97A564A06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C9729-6970-87E4-5098-95A01CE04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FD998-2960-47A2-DCFB-763B10544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editorial learning-platform image created for this presentation.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B4119-0F6E-2134-22DA-7E04506674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0741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2D8A-DEC4-551A-E122-FCAEE4CB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582AA-0A18-58C7-0C0C-88CA4F657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49433-72D9-E19F-17FC-7111738E2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41888-E35A-E102-9CA9-B1E162B925A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5974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editorial learning-platform image created for this presentation.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editorial learning-platform image created for this presentation.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0EF1-8751-316F-EAB9-C712A7C3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0290F-E2E4-1768-E103-48C763067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B12D4-ECBF-CE90-8A81-EA4EE51FD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0B32E-07D7-CE88-996A-387AE940E7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179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95A17-3832-7E42-764F-35003CC7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BAFFB-D1BA-99C0-F03A-AAB1DBC2E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DDA78-7861-BAB4-8D3E-0B6B4F5C2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editorial learning-platform image created for this presentation.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C8587-F8A7-8AEA-8F62-AE795B4AE96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4654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713B-F9C0-0411-2EE8-FB10C1267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BAEE5-8356-77DA-0D82-85CCB42C7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FBFC4-E20A-BD34-68C9-CA01AACD3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7FC5A-FED3-B633-86EA-5FEFC8B4428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2228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0117-80F9-9C9B-348D-587CC8AE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EFAF0-1857-5E23-2676-6F11C5D16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9C8C4-DCAD-003D-F8D8-FCF6E3021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editorial learning-platform image created for this presentation.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03E69-4F19-F529-FB59-178DB2AD2C9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3014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editorial learning-platform image created for this presentation.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4CF72-22C3-A413-7E3F-DDCF2F2E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249F8-C1AF-1FED-B465-A00731678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791EF-0AF9-D455-1DD5-DD584D90C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C8438-3383-9475-3BA1-6E7AD22BE11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142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0961A-9F00-B1C8-1421-4E834D7F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239F45-1E6A-6EC8-3F23-AF7A0BFDB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36164A-8400-EE58-65F0-A508AD1E7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76A93F-BA44-7FA3-18DE-060CC7DAE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132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8DC4C-2B2E-AC4B-C79B-25D3D0CF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8D2679-FA71-2A39-64B9-8C92EA059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7B1E4E-49EA-4C40-A939-EDBA0DEC2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892216-48AF-0EBB-B776-3B96D22BE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8495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4498-C84F-9351-5178-0472152E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32FBCA-8431-86B4-BFE1-63EC07B9A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371ED3-D8FE-8012-118A-DA3FC0F61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ABBC46-CEE4-09C7-C076-393CD6BF7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841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BF1DF-E948-E003-7452-98F6555A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74BB15-2AFE-A55E-088A-56FC5D55F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1886A1-90A8-2B00-0D68-B193CADBD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2449C6-1729-A956-771B-97E59AAA4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114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2321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AI-generated editorial learning-platform image created for this presentation.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A4788-4398-81FF-1F06-0A1024A6C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6EF2EE-257B-1486-4801-DF09E6044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919135-6529-3A49-0CDC-82A766B81A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3D9D21-C037-D024-AB26-67806CF129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A70576-DF6B-0D2B-7989-5F103A5263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8E228-D468-72BD-1E90-5764ED10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2F1BAA-9947-AF61-D326-1CA37EFDD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58CD30-99B9-C881-833D-31884D808D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B4A372-B061-6BCD-DFD6-0D1F4563AD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D9A85-6873-790B-B95E-3D1D99EF21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A2B64-83F9-B84E-4CCA-5FE799DF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5B48C2-85CB-4C1E-ED1E-861B5CB72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316D76-B47B-F123-67A9-A829BDF760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9EF2C4-B642-76F6-BE55-84247FB4F1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1148BE-D2B2-57DC-1776-C2AF73934F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8BD45-9D33-058A-F784-324A329B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2D10D2-DBBA-7810-83A3-079E92DF4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E02A94-99BF-8DEA-FE28-6B25470C07D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69B620-2EA2-CC57-EEDA-25BA517BDA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105B53-8D9A-52E3-4F3D-B64E69E761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080BB0-E1A4-F83E-7D6B-D9B13910BF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936B0-B266-C9B9-E849-B83F825F4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C7CDD5-59F7-A440-9DE6-7F22328D4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746B2B-075F-1A9D-53AA-ADE99708CD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CB4D83-0777-9FE2-3433-8752968111E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B1BDF7-242F-8154-2FA6-60AC06C56FD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356704-BDAD-5A24-0187-9CD3902766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6BDF0D-635A-4DB6-568A-FD11CFCEEC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2A0E3A-2695-7263-6F67-B419E7D01C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120B91-E353-2768-C976-ABC34670D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097579-A00A-94DA-1104-E6BCDF88CB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2F78AC-177C-1237-6D33-E67B7C68AB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F5BB45-F096-ABF5-7D0D-CFF448C177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37786D-D3E2-7290-4C6D-EC6456A689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519320-FF20-6CD7-5F25-EBB2E4A954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2E18C5-264A-FA97-C761-3CBEBFE939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38737-FA4C-6304-046A-B61813CC6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1DF62D-F13F-B02E-8397-95583A5BE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5F7286-99C5-2586-CF6E-8B7FBF05F75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DF822D-CFD1-2BF3-F005-C892CF3793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AA4E5F-044C-E02D-D7B2-ACD25417EA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8DC86B-5C5F-A671-B4FC-EDE8976481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48CB8-A063-51C6-2B73-42EB80484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E05D95-A2D4-A307-B912-D64F9D4A4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752655-7EEA-CE78-11FC-6CAEDEF68CB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64F08B-7C09-207B-64DC-3ABC77A15A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DE417D-4719-CBF1-4A96-05A3CBF1B6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A4AE42-1EDC-3BDC-20C2-DA8D11AEE8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02D17-DEDD-32D4-025E-CF2D2EA1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F057B0-AEEB-FC5C-37A2-36C052930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A37A8-1A1C-99E3-DE16-D5140D436C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C99E73-B942-1F89-C922-9F6B7E6DEA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8F3F8A-4CDD-6E79-EB2E-B3381940A4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3B18D0-88DA-609E-1C84-289F0967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158C28-5357-6043-75C0-154670ADF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8314C1-7B26-0209-A8EA-BB6BAC759B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34AD71-E2E7-DD7E-3884-A2E85DD169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717B34-9940-7312-C013-016B5C2FF8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E8B3F3-E216-DB40-947E-EEDFD1E2EE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81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7B1EAA-A8CF-C3C3-C1BA-84A966D1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CD9903-EF5D-960A-F920-B69B6A5E3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98986C-88B1-E77A-2A90-EBDE087C389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0A0F2-A385-0847-904E-49D4DF137415}" type="datetimeFigureOut">
              <a:t>2026/7/27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D3A17-5B87-68F4-60E5-641ACD13942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E37D20-3E5B-267E-D4EB-C488CAD26AC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8B3F3-E216-DB40-947E-EEDFD1E2EE5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演示研究所 SlideLab.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4" name="演示研究所 SlideLab.cc">
            <a:extLst>
              <a:ext uri="{FF2B5EF4-FFF2-40B4-BE49-F238E27FC236}">
                <a16:creationId xmlns:a16="http://schemas.microsoft.com/office/drawing/2014/main" id="{40DBD828-A74E-AFBF-77C9-EE90202E689F}"/>
              </a:ext>
            </a:extLst>
          </p:cNvPr>
          <p:cNvSpPr>
            <a:spLocks noGrp="1"/>
          </p:cNvSpPr>
          <p:nvPr/>
        </p:nvSpPr>
        <p:spPr>
          <a:xfrm>
            <a:off x="6968430" y="1443402"/>
            <a:ext cx="4148432" cy="41484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9" name="演示研究所 SlideLab.cc">
            <a:extLst>
              <a:ext uri="{FF2B5EF4-FFF2-40B4-BE49-F238E27FC236}">
                <a16:creationId xmlns:a16="http://schemas.microsoft.com/office/drawing/2014/main" id="{81CC0009-B204-4AF2-9D8C-1A9BE52E3ED2}"/>
              </a:ext>
            </a:extLst>
          </p:cNvPr>
          <p:cNvSpPr>
            <a:spLocks noGrp="1"/>
          </p:cNvSpPr>
          <p:nvPr/>
        </p:nvSpPr>
        <p:spPr>
          <a:xfrm>
            <a:off x="6691881" y="1443402"/>
            <a:ext cx="4148432" cy="4148432"/>
          </a:xfrm>
          <a:custGeom>
            <a:avLst/>
            <a:gdLst/>
            <a:ahLst/>
            <a:cxnLst/>
            <a:rect l="l" t="t" r="r" b="b"/>
            <a:pathLst>
              <a:path w="4148432" h="4148432">
                <a:moveTo>
                  <a:pt x="2074215" y="0"/>
                </a:moveTo>
                <a:cubicBezTo>
                  <a:pt x="3219773" y="0"/>
                  <a:pt x="4148432" y="928658"/>
                  <a:pt x="4148432" y="2074216"/>
                </a:cubicBezTo>
                <a:cubicBezTo>
                  <a:pt x="4148432" y="3219774"/>
                  <a:pt x="3219773" y="4148432"/>
                  <a:pt x="2074215" y="4148432"/>
                </a:cubicBezTo>
                <a:cubicBezTo>
                  <a:pt x="928658" y="4148432"/>
                  <a:pt x="0" y="3219774"/>
                  <a:pt x="0" y="2074216"/>
                </a:cubicBezTo>
                <a:cubicBezTo>
                  <a:pt x="0" y="928658"/>
                  <a:pt x="928658" y="0"/>
                  <a:pt x="2074215" y="0"/>
                </a:cubicBezTo>
                <a:close/>
              </a:path>
            </a:pathLst>
          </a:custGeom>
          <a:blipFill>
            <a:blip r:embed="rId4"/>
            <a:srcRect/>
            <a:stretch>
              <a:fillRect l="-25075" r="-25075"/>
            </a:stretch>
          </a:blip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演示研究所 SlideLab.cc">
            <a:extLst>
              <a:ext uri="{FF2B5EF4-FFF2-40B4-BE49-F238E27FC236}">
                <a16:creationId xmlns:a16="http://schemas.microsoft.com/office/drawing/2014/main" id="{F734FEA6-C201-9AB1-4DCA-5D6C02760D6F}"/>
              </a:ext>
            </a:extLst>
          </p:cNvPr>
          <p:cNvSpPr>
            <a:spLocks noGrp="1"/>
          </p:cNvSpPr>
          <p:nvPr/>
        </p:nvSpPr>
        <p:spPr>
          <a:xfrm rot="1023670">
            <a:off x="-761251" y="5688065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1" name="演示研究所 SlideLab.cc">
            <a:extLst>
              <a:ext uri="{FF2B5EF4-FFF2-40B4-BE49-F238E27FC236}">
                <a16:creationId xmlns:a16="http://schemas.microsoft.com/office/drawing/2014/main" id="{FA47C9D7-9B8A-78B5-4031-6BFF0471C349}"/>
              </a:ext>
            </a:extLst>
          </p:cNvPr>
          <p:cNvSpPr>
            <a:spLocks noGrp="1"/>
          </p:cNvSpPr>
          <p:nvPr/>
        </p:nvSpPr>
        <p:spPr>
          <a:xfrm rot="17258145">
            <a:off x="-12153927" y="4663698"/>
            <a:ext cx="3543941" cy="3556859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173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3" name="演示研究所 SlideLab.cc">
            <a:extLst>
              <a:ext uri="{FF2B5EF4-FFF2-40B4-BE49-F238E27FC236}">
                <a16:creationId xmlns:a16="http://schemas.microsoft.com/office/drawing/2014/main" id="{467D6307-6892-DA1D-7B08-55F037554CD6}"/>
              </a:ext>
            </a:extLst>
          </p:cNvPr>
          <p:cNvSpPr>
            <a:spLocks noGrp="1"/>
          </p:cNvSpPr>
          <p:nvPr/>
        </p:nvSpPr>
        <p:spPr>
          <a:xfrm>
            <a:off x="5782500" y="2529729"/>
            <a:ext cx="2145250" cy="21452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演示研究所 SlideLab.cc">
            <a:extLst>
              <a:ext uri="{FF2B5EF4-FFF2-40B4-BE49-F238E27FC236}">
                <a16:creationId xmlns:a16="http://schemas.microsoft.com/office/drawing/2014/main" id="{156B0C8F-7DD8-9FC2-7580-7718D8F6C5F3}"/>
              </a:ext>
            </a:extLst>
          </p:cNvPr>
          <p:cNvSpPr>
            <a:spLocks noGrp="1"/>
          </p:cNvSpPr>
          <p:nvPr/>
        </p:nvSpPr>
        <p:spPr>
          <a:xfrm rot="1023670">
            <a:off x="10327292" y="5591742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148A8B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5" name="演示研究所 SlideLab.cc">
            <a:extLst>
              <a:ext uri="{FF2B5EF4-FFF2-40B4-BE49-F238E27FC236}">
                <a16:creationId xmlns:a16="http://schemas.microsoft.com/office/drawing/2014/main" id="{BAB12B76-DBD3-2798-0DFD-15A960FE40BB}"/>
              </a:ext>
            </a:extLst>
          </p:cNvPr>
          <p:cNvSpPr>
            <a:spLocks noGrp="1"/>
          </p:cNvSpPr>
          <p:nvPr/>
        </p:nvSpPr>
        <p:spPr>
          <a:xfrm rot="5400000">
            <a:off x="840372" y="-49269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演示研究所 SlideLab.cc">
            <a:extLst>
              <a:ext uri="{FF2B5EF4-FFF2-40B4-BE49-F238E27FC236}">
                <a16:creationId xmlns:a16="http://schemas.microsoft.com/office/drawing/2014/main" id="{92BD076E-98C9-718B-D626-231CAF17AEB3}"/>
              </a:ext>
            </a:extLst>
          </p:cNvPr>
          <p:cNvSpPr>
            <a:spLocks noGrp="1"/>
          </p:cNvSpPr>
          <p:nvPr/>
        </p:nvSpPr>
        <p:spPr>
          <a:xfrm>
            <a:off x="11897" y="645749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演示研究所 SlideLab.cc">
            <a:extLst>
              <a:ext uri="{FF2B5EF4-FFF2-40B4-BE49-F238E27FC236}">
                <a16:creationId xmlns:a16="http://schemas.microsoft.com/office/drawing/2014/main" id="{41353D2B-B90F-2873-6CCB-9501A181BCD6}"/>
              </a:ext>
            </a:extLst>
          </p:cNvPr>
          <p:cNvSpPr>
            <a:spLocks noGrp="1"/>
          </p:cNvSpPr>
          <p:nvPr/>
        </p:nvSpPr>
        <p:spPr>
          <a:xfrm>
            <a:off x="22857" y="1506914"/>
            <a:ext cx="7221241" cy="5232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l">
              <a:defRPr sz="2800">
                <a:solidFill>
                  <a:srgbClr val="148A8B"/>
                </a:solidFill>
                <a:latin typeface="Arial"/>
                <a:ea typeface="Arial"/>
                <a:cs typeface="Arial"/>
              </a:defRPr>
            </a:pPr>
            <a:r>
              <a:rPr sz="2800" dirty="0">
                <a:solidFill>
                  <a:srgbClr val="148A8B"/>
                </a:solidFill>
                <a:latin typeface="Arial"/>
                <a:ea typeface="Arial"/>
                <a:cs typeface="Arial"/>
              </a:rPr>
              <a:t>Smart learning platform · project showcase</a:t>
            </a:r>
          </a:p>
        </p:txBody>
      </p:sp>
      <p:sp>
        <p:nvSpPr>
          <p:cNvPr id="102" name="演示研究所 SlideLab.cc">
            <a:extLst>
              <a:ext uri="{FF2B5EF4-FFF2-40B4-BE49-F238E27FC236}">
                <a16:creationId xmlns:a16="http://schemas.microsoft.com/office/drawing/2014/main" id="{3303DA30-993F-E145-20E4-A6980A57DD16}"/>
              </a:ext>
            </a:extLst>
          </p:cNvPr>
          <p:cNvSpPr>
            <a:spLocks noGrp="1"/>
          </p:cNvSpPr>
          <p:nvPr/>
        </p:nvSpPr>
        <p:spPr>
          <a:xfrm>
            <a:off x="770354" y="4699373"/>
            <a:ext cx="3885997" cy="988105"/>
          </a:xfrm>
          <a:prstGeom prst="roundRect">
            <a:avLst>
              <a:gd name="adj" fmla="val 50000"/>
            </a:avLst>
          </a:prstGeom>
          <a:solidFill>
            <a:srgbClr val="17324D"/>
          </a:solidFill>
          <a:ln>
            <a:noFill/>
          </a:ln>
          <a:effectLst>
            <a:outerShdw blurRad="139700" dist="1270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 dirty="0"/>
          </a:p>
        </p:txBody>
      </p:sp>
      <p:sp>
        <p:nvSpPr>
          <p:cNvPr id="103" name="演示研究所 SlideLab.cc">
            <a:extLst>
              <a:ext uri="{FF2B5EF4-FFF2-40B4-BE49-F238E27FC236}">
                <a16:creationId xmlns:a16="http://schemas.microsoft.com/office/drawing/2014/main" id="{52CE9DDD-1BE5-DD13-6F0C-C15703E6940A}"/>
              </a:ext>
            </a:extLst>
          </p:cNvPr>
          <p:cNvSpPr>
            <a:spLocks noGrp="1"/>
          </p:cNvSpPr>
          <p:nvPr/>
        </p:nvSpPr>
        <p:spPr>
          <a:xfrm>
            <a:off x="1276536" y="4743493"/>
            <a:ext cx="2960379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l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Group: B03</a:t>
            </a:r>
          </a:p>
          <a:p>
            <a:pPr marL="0" algn="l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CHENSHIBO  WANGFUMING</a:t>
            </a:r>
          </a:p>
          <a:p>
            <a:pPr marL="0" algn="l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LIGUONING WANGZEHAO</a:t>
            </a:r>
          </a:p>
          <a:p>
            <a:pPr marL="0" algn="l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YANGFENG CHENDAILIN      </a:t>
            </a:r>
            <a:endParaRPr sz="12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演示研究所 SlideLab.cc">
            <a:extLst>
              <a:ext uri="{FF2B5EF4-FFF2-40B4-BE49-F238E27FC236}">
                <a16:creationId xmlns:a16="http://schemas.microsoft.com/office/drawing/2014/main" id="{BF55B8F5-ED1E-254E-97E2-DD5431BB1A7B}"/>
              </a:ext>
            </a:extLst>
          </p:cNvPr>
          <p:cNvSpPr>
            <a:spLocks noGrp="1"/>
          </p:cNvSpPr>
          <p:nvPr/>
        </p:nvSpPr>
        <p:spPr>
          <a:xfrm>
            <a:off x="4962317" y="3201492"/>
            <a:ext cx="3785616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11" name="演示研究所 SlideLab.cc">
            <a:extLst>
              <a:ext uri="{FF2B5EF4-FFF2-40B4-BE49-F238E27FC236}">
                <a16:creationId xmlns:a16="http://schemas.microsoft.com/office/drawing/2014/main" id="{C43FBAB5-B356-FAB6-50BA-937835DB9709}"/>
              </a:ext>
            </a:extLst>
          </p:cNvPr>
          <p:cNvSpPr>
            <a:spLocks noGrp="1"/>
          </p:cNvSpPr>
          <p:nvPr/>
        </p:nvSpPr>
        <p:spPr>
          <a:xfrm>
            <a:off x="737674" y="3465513"/>
            <a:ext cx="4768276" cy="271036"/>
          </a:xfrm>
          <a:prstGeom prst="roundRect">
            <a:avLst>
              <a:gd name="adj" fmla="val 50000"/>
            </a:avLst>
          </a:prstGeom>
          <a:solidFill>
            <a:srgbClr val="E8D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8" name="演示研究所 SlideLab.cc">
            <a:extLst>
              <a:ext uri="{FF2B5EF4-FFF2-40B4-BE49-F238E27FC236}">
                <a16:creationId xmlns:a16="http://schemas.microsoft.com/office/drawing/2014/main" id="{96CD073C-5355-3990-42CE-9DA2513031B1}"/>
              </a:ext>
            </a:extLst>
          </p:cNvPr>
          <p:cNvSpPr>
            <a:spLocks noGrp="1"/>
          </p:cNvSpPr>
          <p:nvPr/>
        </p:nvSpPr>
        <p:spPr>
          <a:xfrm>
            <a:off x="595903" y="3082627"/>
            <a:ext cx="6313369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4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COLEARN</a:t>
            </a:r>
            <a:endParaRPr sz="4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演示研究所 SlideLab.cc">
            <a:extLst>
              <a:ext uri="{FF2B5EF4-FFF2-40B4-BE49-F238E27FC236}">
                <a16:creationId xmlns:a16="http://schemas.microsoft.com/office/drawing/2014/main" id="{800D0AF8-A0A7-5A5A-91A9-F9181EFCB10A}"/>
              </a:ext>
            </a:extLst>
          </p:cNvPr>
          <p:cNvSpPr>
            <a:spLocks noGrp="1"/>
          </p:cNvSpPr>
          <p:nvPr/>
        </p:nvSpPr>
        <p:spPr>
          <a:xfrm rot="16200000">
            <a:off x="3259581" y="384746"/>
            <a:ext cx="359522" cy="846878"/>
          </a:xfrm>
          <a:custGeom>
            <a:avLst/>
            <a:gdLst/>
            <a:ahLst/>
            <a:cxnLst/>
            <a:rect l="l" t="t" r="r" b="b"/>
            <a:pathLst>
              <a:path w="172697" h="406797">
                <a:moveTo>
                  <a:pt x="113059" y="374216"/>
                </a:moveTo>
                <a:cubicBezTo>
                  <a:pt x="113059" y="357675"/>
                  <a:pt x="126491" y="344281"/>
                  <a:pt x="143032" y="344281"/>
                </a:cubicBezTo>
                <a:cubicBezTo>
                  <a:pt x="159572" y="344281"/>
                  <a:pt x="172966" y="357675"/>
                  <a:pt x="172966" y="374216"/>
                </a:cubicBezTo>
                <a:cubicBezTo>
                  <a:pt x="172966" y="390756"/>
                  <a:pt x="159572" y="404188"/>
                  <a:pt x="143032" y="404188"/>
                </a:cubicBezTo>
                <a:cubicBezTo>
                  <a:pt x="126491" y="404188"/>
                  <a:pt x="113059" y="390795"/>
                  <a:pt x="113059" y="374216"/>
                </a:cubicBezTo>
                <a:close/>
                <a:moveTo>
                  <a:pt x="32812" y="404188"/>
                </a:moveTo>
                <a:cubicBezTo>
                  <a:pt x="49353" y="404188"/>
                  <a:pt x="62785" y="390795"/>
                  <a:pt x="62785" y="374216"/>
                </a:cubicBezTo>
                <a:cubicBezTo>
                  <a:pt x="62785" y="357675"/>
                  <a:pt x="49391" y="344281"/>
                  <a:pt x="32812" y="344281"/>
                </a:cubicBezTo>
                <a:cubicBezTo>
                  <a:pt x="16272" y="344281"/>
                  <a:pt x="2878" y="357675"/>
                  <a:pt x="2878" y="374216"/>
                </a:cubicBezTo>
                <a:cubicBezTo>
                  <a:pt x="2878" y="390795"/>
                  <a:pt x="16272" y="404188"/>
                  <a:pt x="32812" y="404188"/>
                </a:cubicBezTo>
                <a:close/>
                <a:moveTo>
                  <a:pt x="143032" y="290400"/>
                </a:moveTo>
                <a:cubicBezTo>
                  <a:pt x="159572" y="290400"/>
                  <a:pt x="172966" y="277006"/>
                  <a:pt x="172966" y="260427"/>
                </a:cubicBezTo>
                <a:cubicBezTo>
                  <a:pt x="172966" y="243887"/>
                  <a:pt x="159572" y="230493"/>
                  <a:pt x="143032" y="230493"/>
                </a:cubicBezTo>
                <a:cubicBezTo>
                  <a:pt x="126491" y="230493"/>
                  <a:pt x="113059" y="243887"/>
                  <a:pt x="113059" y="260427"/>
                </a:cubicBezTo>
                <a:cubicBezTo>
                  <a:pt x="113059" y="277006"/>
                  <a:pt x="126491" y="290400"/>
                  <a:pt x="143032" y="290400"/>
                </a:cubicBezTo>
                <a:close/>
                <a:moveTo>
                  <a:pt x="32812" y="290400"/>
                </a:moveTo>
                <a:cubicBezTo>
                  <a:pt x="49353" y="290400"/>
                  <a:pt x="62785" y="277006"/>
                  <a:pt x="62785" y="260427"/>
                </a:cubicBezTo>
                <a:cubicBezTo>
                  <a:pt x="62785" y="243887"/>
                  <a:pt x="49391" y="230493"/>
                  <a:pt x="32812" y="230493"/>
                </a:cubicBezTo>
                <a:cubicBezTo>
                  <a:pt x="16272" y="230493"/>
                  <a:pt x="2878" y="243887"/>
                  <a:pt x="2878" y="260427"/>
                </a:cubicBezTo>
                <a:cubicBezTo>
                  <a:pt x="2878" y="277006"/>
                  <a:pt x="16272" y="290400"/>
                  <a:pt x="32812" y="290400"/>
                </a:cubicBezTo>
                <a:close/>
                <a:moveTo>
                  <a:pt x="143032" y="176573"/>
                </a:moveTo>
                <a:cubicBezTo>
                  <a:pt x="159572" y="176573"/>
                  <a:pt x="172966" y="163180"/>
                  <a:pt x="172966" y="146639"/>
                </a:cubicBezTo>
                <a:cubicBezTo>
                  <a:pt x="172966" y="130098"/>
                  <a:pt x="159572" y="116666"/>
                  <a:pt x="143032" y="116666"/>
                </a:cubicBezTo>
                <a:cubicBezTo>
                  <a:pt x="126491" y="116666"/>
                  <a:pt x="113059" y="130060"/>
                  <a:pt x="113059" y="146639"/>
                </a:cubicBezTo>
                <a:cubicBezTo>
                  <a:pt x="113059" y="163180"/>
                  <a:pt x="126491" y="176573"/>
                  <a:pt x="143032" y="176573"/>
                </a:cubicBezTo>
                <a:close/>
                <a:moveTo>
                  <a:pt x="32812" y="176573"/>
                </a:moveTo>
                <a:cubicBezTo>
                  <a:pt x="49353" y="176573"/>
                  <a:pt x="62785" y="163180"/>
                  <a:pt x="62785" y="146639"/>
                </a:cubicBezTo>
                <a:cubicBezTo>
                  <a:pt x="62785" y="130098"/>
                  <a:pt x="49391" y="116666"/>
                  <a:pt x="32812" y="116666"/>
                </a:cubicBezTo>
                <a:cubicBezTo>
                  <a:pt x="16272" y="116666"/>
                  <a:pt x="2878" y="130060"/>
                  <a:pt x="2878" y="146639"/>
                </a:cubicBezTo>
                <a:cubicBezTo>
                  <a:pt x="2878" y="163180"/>
                  <a:pt x="16272" y="176573"/>
                  <a:pt x="32812" y="176573"/>
                </a:cubicBezTo>
                <a:close/>
                <a:moveTo>
                  <a:pt x="143032" y="62785"/>
                </a:moveTo>
                <a:cubicBezTo>
                  <a:pt x="159572" y="62785"/>
                  <a:pt x="172966" y="49391"/>
                  <a:pt x="172966" y="32851"/>
                </a:cubicBezTo>
                <a:cubicBezTo>
                  <a:pt x="172966" y="16310"/>
                  <a:pt x="159572" y="2878"/>
                  <a:pt x="143032" y="2878"/>
                </a:cubicBezTo>
                <a:cubicBezTo>
                  <a:pt x="126491" y="2878"/>
                  <a:pt x="113059" y="16272"/>
                  <a:pt x="113059" y="32851"/>
                </a:cubicBezTo>
                <a:cubicBezTo>
                  <a:pt x="113059" y="49391"/>
                  <a:pt x="126491" y="62785"/>
                  <a:pt x="143032" y="62785"/>
                </a:cubicBezTo>
                <a:close/>
                <a:moveTo>
                  <a:pt x="32812" y="62785"/>
                </a:moveTo>
                <a:cubicBezTo>
                  <a:pt x="49353" y="62785"/>
                  <a:pt x="62785" y="49391"/>
                  <a:pt x="62785" y="32851"/>
                </a:cubicBezTo>
                <a:cubicBezTo>
                  <a:pt x="62785" y="16310"/>
                  <a:pt x="49391" y="2878"/>
                  <a:pt x="32812" y="2878"/>
                </a:cubicBezTo>
                <a:cubicBezTo>
                  <a:pt x="16272" y="2878"/>
                  <a:pt x="2878" y="16272"/>
                  <a:pt x="2878" y="32851"/>
                </a:cubicBezTo>
                <a:cubicBezTo>
                  <a:pt x="2878" y="49391"/>
                  <a:pt x="16272" y="62785"/>
                  <a:pt x="32812" y="62785"/>
                </a:cubicBezTo>
                <a:close/>
              </a:path>
            </a:pathLst>
          </a:custGeom>
          <a:solidFill>
            <a:srgbClr val="148A8B"/>
          </a:solidFill>
          <a:ln w="9525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6" name="演示研究所 SlideLab.cc">
            <a:extLst>
              <a:ext uri="{FF2B5EF4-FFF2-40B4-BE49-F238E27FC236}">
                <a16:creationId xmlns:a16="http://schemas.microsoft.com/office/drawing/2014/main" id="{2ECA7888-64F8-1FED-1813-80E124F28A69}"/>
              </a:ext>
            </a:extLst>
          </p:cNvPr>
          <p:cNvSpPr>
            <a:spLocks noGrp="1"/>
          </p:cNvSpPr>
          <p:nvPr/>
        </p:nvSpPr>
        <p:spPr>
          <a:xfrm>
            <a:off x="11924855" y="4674341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7" name="演示研究所 SlideLab.cc">
            <a:extLst>
              <a:ext uri="{FF2B5EF4-FFF2-40B4-BE49-F238E27FC236}">
                <a16:creationId xmlns:a16="http://schemas.microsoft.com/office/drawing/2014/main" id="{B5C18E22-E988-A22B-0459-35AF54F3CF60}"/>
              </a:ext>
            </a:extLst>
          </p:cNvPr>
          <p:cNvSpPr>
            <a:spLocks noGrp="1"/>
          </p:cNvSpPr>
          <p:nvPr/>
        </p:nvSpPr>
        <p:spPr>
          <a:xfrm>
            <a:off x="11769920" y="4674341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8" name="演示研究所 SlideLab.cc">
            <a:extLst>
              <a:ext uri="{FF2B5EF4-FFF2-40B4-BE49-F238E27FC236}">
                <a16:creationId xmlns:a16="http://schemas.microsoft.com/office/drawing/2014/main" id="{D722AF6D-6D9E-A3AC-7D51-B2935D302C08}"/>
              </a:ext>
            </a:extLst>
          </p:cNvPr>
          <p:cNvSpPr>
            <a:spLocks noGrp="1"/>
          </p:cNvSpPr>
          <p:nvPr/>
        </p:nvSpPr>
        <p:spPr>
          <a:xfrm>
            <a:off x="11614866" y="4674341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9" name="演示研究所 SlideLab.cc">
            <a:extLst>
              <a:ext uri="{FF2B5EF4-FFF2-40B4-BE49-F238E27FC236}">
                <a16:creationId xmlns:a16="http://schemas.microsoft.com/office/drawing/2014/main" id="{F3A42079-5E33-F9C7-16EC-1A09F0936E19}"/>
              </a:ext>
            </a:extLst>
          </p:cNvPr>
          <p:cNvSpPr>
            <a:spLocks noGrp="1"/>
          </p:cNvSpPr>
          <p:nvPr/>
        </p:nvSpPr>
        <p:spPr>
          <a:xfrm>
            <a:off x="11459931" y="4674341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0" name="演示研究所 SlideLab.cc">
            <a:extLst>
              <a:ext uri="{FF2B5EF4-FFF2-40B4-BE49-F238E27FC236}">
                <a16:creationId xmlns:a16="http://schemas.microsoft.com/office/drawing/2014/main" id="{12B18259-AAE5-4E0C-5B41-9BDF9211B6E7}"/>
              </a:ext>
            </a:extLst>
          </p:cNvPr>
          <p:cNvSpPr>
            <a:spLocks noGrp="1"/>
          </p:cNvSpPr>
          <p:nvPr/>
        </p:nvSpPr>
        <p:spPr>
          <a:xfrm>
            <a:off x="11304519" y="467434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6">
                <a:moveTo>
                  <a:pt x="79715" y="158869"/>
                </a:moveTo>
                <a:cubicBezTo>
                  <a:pt x="123166" y="158293"/>
                  <a:pt x="157927" y="122263"/>
                  <a:pt x="157356" y="78394"/>
                </a:cubicBezTo>
                <a:cubicBezTo>
                  <a:pt x="156785" y="34526"/>
                  <a:pt x="121098" y="-569"/>
                  <a:pt x="77648" y="7"/>
                </a:cubicBezTo>
                <a:cubicBezTo>
                  <a:pt x="34335" y="582"/>
                  <a:pt x="-372" y="36394"/>
                  <a:pt x="3" y="80125"/>
                </a:cubicBezTo>
                <a:cubicBezTo>
                  <a:pt x="379" y="123996"/>
                  <a:pt x="35909" y="159252"/>
                  <a:pt x="79362" y="158873"/>
                </a:cubicBezTo>
                <a:cubicBezTo>
                  <a:pt x="79480" y="158872"/>
                  <a:pt x="79597" y="158871"/>
                  <a:pt x="79715" y="158869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1" name="演示研究所 SlideLab.cc">
            <a:extLst>
              <a:ext uri="{FF2B5EF4-FFF2-40B4-BE49-F238E27FC236}">
                <a16:creationId xmlns:a16="http://schemas.microsoft.com/office/drawing/2014/main" id="{266C6A86-BBE3-57BA-108C-3149CEF38D91}"/>
              </a:ext>
            </a:extLst>
          </p:cNvPr>
          <p:cNvSpPr>
            <a:spLocks noGrp="1"/>
          </p:cNvSpPr>
          <p:nvPr/>
        </p:nvSpPr>
        <p:spPr>
          <a:xfrm>
            <a:off x="11149942" y="4674341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2" name="演示研究所 SlideLab.cc">
            <a:extLst>
              <a:ext uri="{FF2B5EF4-FFF2-40B4-BE49-F238E27FC236}">
                <a16:creationId xmlns:a16="http://schemas.microsoft.com/office/drawing/2014/main" id="{7945BD26-C53D-9C1D-E350-B11A64136CB1}"/>
              </a:ext>
            </a:extLst>
          </p:cNvPr>
          <p:cNvSpPr>
            <a:spLocks noGrp="1"/>
          </p:cNvSpPr>
          <p:nvPr/>
        </p:nvSpPr>
        <p:spPr>
          <a:xfrm>
            <a:off x="11924855" y="4508073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3" name="演示研究所 SlideLab.cc">
            <a:extLst>
              <a:ext uri="{FF2B5EF4-FFF2-40B4-BE49-F238E27FC236}">
                <a16:creationId xmlns:a16="http://schemas.microsoft.com/office/drawing/2014/main" id="{329140D5-3C5B-E14C-B2D4-BE5466A3EE1D}"/>
              </a:ext>
            </a:extLst>
          </p:cNvPr>
          <p:cNvSpPr>
            <a:spLocks noGrp="1"/>
          </p:cNvSpPr>
          <p:nvPr/>
        </p:nvSpPr>
        <p:spPr>
          <a:xfrm>
            <a:off x="11769920" y="4508073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" name="演示研究所 SlideLab.cc">
            <a:extLst>
              <a:ext uri="{FF2B5EF4-FFF2-40B4-BE49-F238E27FC236}">
                <a16:creationId xmlns:a16="http://schemas.microsoft.com/office/drawing/2014/main" id="{A3CBF43E-10CB-176E-FAD6-3C0B426070C4}"/>
              </a:ext>
            </a:extLst>
          </p:cNvPr>
          <p:cNvSpPr>
            <a:spLocks noGrp="1"/>
          </p:cNvSpPr>
          <p:nvPr/>
        </p:nvSpPr>
        <p:spPr>
          <a:xfrm>
            <a:off x="11614866" y="4508073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" name="演示研究所 SlideLab.cc">
            <a:extLst>
              <a:ext uri="{FF2B5EF4-FFF2-40B4-BE49-F238E27FC236}">
                <a16:creationId xmlns:a16="http://schemas.microsoft.com/office/drawing/2014/main" id="{E38A6E7A-0FE0-451B-4C5A-BEA24C5B897D}"/>
              </a:ext>
            </a:extLst>
          </p:cNvPr>
          <p:cNvSpPr>
            <a:spLocks noGrp="1"/>
          </p:cNvSpPr>
          <p:nvPr/>
        </p:nvSpPr>
        <p:spPr>
          <a:xfrm>
            <a:off x="11459931" y="4508073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" name="演示研究所 SlideLab.cc">
            <a:extLst>
              <a:ext uri="{FF2B5EF4-FFF2-40B4-BE49-F238E27FC236}">
                <a16:creationId xmlns:a16="http://schemas.microsoft.com/office/drawing/2014/main" id="{DC40BA4E-255C-B533-29FC-2BC2E9E5FF20}"/>
              </a:ext>
            </a:extLst>
          </p:cNvPr>
          <p:cNvSpPr>
            <a:spLocks noGrp="1"/>
          </p:cNvSpPr>
          <p:nvPr/>
        </p:nvSpPr>
        <p:spPr>
          <a:xfrm>
            <a:off x="11304520" y="4508075"/>
            <a:ext cx="54459" cy="54984"/>
          </a:xfrm>
          <a:custGeom>
            <a:avLst/>
            <a:gdLst/>
            <a:ahLst/>
            <a:cxnLst/>
            <a:rect l="l" t="t" r="r" b="b"/>
            <a:pathLst>
              <a:path w="157363" h="158881">
                <a:moveTo>
                  <a:pt x="79713" y="158869"/>
                </a:moveTo>
                <a:cubicBezTo>
                  <a:pt x="123164" y="158294"/>
                  <a:pt x="157926" y="122266"/>
                  <a:pt x="157357" y="78397"/>
                </a:cubicBezTo>
                <a:cubicBezTo>
                  <a:pt x="156787" y="34529"/>
                  <a:pt x="121102" y="-568"/>
                  <a:pt x="77651" y="7"/>
                </a:cubicBezTo>
                <a:cubicBezTo>
                  <a:pt x="34605" y="576"/>
                  <a:pt x="5" y="35967"/>
                  <a:pt x="1" y="79431"/>
                </a:cubicBezTo>
                <a:cubicBezTo>
                  <a:pt x="-196" y="123111"/>
                  <a:pt x="34718" y="158682"/>
                  <a:pt x="77982" y="158880"/>
                </a:cubicBezTo>
                <a:cubicBezTo>
                  <a:pt x="78559" y="158883"/>
                  <a:pt x="79136" y="158879"/>
                  <a:pt x="79713" y="158869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7" name="演示研究所 SlideLab.cc">
            <a:extLst>
              <a:ext uri="{FF2B5EF4-FFF2-40B4-BE49-F238E27FC236}">
                <a16:creationId xmlns:a16="http://schemas.microsoft.com/office/drawing/2014/main" id="{D08D976A-A23D-3A56-B6FB-4DFCB8DEABA0}"/>
              </a:ext>
            </a:extLst>
          </p:cNvPr>
          <p:cNvSpPr>
            <a:spLocks noGrp="1"/>
          </p:cNvSpPr>
          <p:nvPr/>
        </p:nvSpPr>
        <p:spPr>
          <a:xfrm rot="-550833">
            <a:off x="11149721" y="4508622"/>
            <a:ext cx="54613" cy="55138"/>
          </a:xfrm>
          <a:custGeom>
            <a:avLst/>
            <a:gdLst/>
            <a:ahLst/>
            <a:cxnLst/>
            <a:rect l="l" t="t" r="r" b="b"/>
            <a:pathLst>
              <a:path w="157810" h="159327">
                <a:moveTo>
                  <a:pt x="157810" y="79664"/>
                </a:moveTo>
                <a:cubicBezTo>
                  <a:pt x="157810" y="123661"/>
                  <a:pt x="122483" y="159328"/>
                  <a:pt x="78905" y="159328"/>
                </a:cubicBezTo>
                <a:cubicBezTo>
                  <a:pt x="35327" y="159328"/>
                  <a:pt x="0" y="123661"/>
                  <a:pt x="0" y="79664"/>
                </a:cubicBezTo>
                <a:cubicBezTo>
                  <a:pt x="0" y="35667"/>
                  <a:pt x="35327" y="0"/>
                  <a:pt x="78905" y="0"/>
                </a:cubicBezTo>
                <a:cubicBezTo>
                  <a:pt x="122483" y="0"/>
                  <a:pt x="157810" y="35667"/>
                  <a:pt x="157810" y="79664"/>
                </a:cubicBezTo>
                <a:close/>
              </a:path>
            </a:pathLst>
          </a:custGeom>
          <a:grpFill/>
          <a:ln w="34388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8" name="演示研究所 SlideLab.cc">
            <a:extLst>
              <a:ext uri="{FF2B5EF4-FFF2-40B4-BE49-F238E27FC236}">
                <a16:creationId xmlns:a16="http://schemas.microsoft.com/office/drawing/2014/main" id="{83EC31FD-412B-6721-03CF-23303A259EB4}"/>
              </a:ext>
            </a:extLst>
          </p:cNvPr>
          <p:cNvSpPr>
            <a:spLocks noGrp="1"/>
          </p:cNvSpPr>
          <p:nvPr/>
        </p:nvSpPr>
        <p:spPr>
          <a:xfrm>
            <a:off x="11924855" y="434192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9" name="演示研究所 SlideLab.cc">
            <a:extLst>
              <a:ext uri="{FF2B5EF4-FFF2-40B4-BE49-F238E27FC236}">
                <a16:creationId xmlns:a16="http://schemas.microsoft.com/office/drawing/2014/main" id="{D80A178E-AF68-BBC0-591D-13258C3518D8}"/>
              </a:ext>
            </a:extLst>
          </p:cNvPr>
          <p:cNvSpPr>
            <a:spLocks noGrp="1"/>
          </p:cNvSpPr>
          <p:nvPr/>
        </p:nvSpPr>
        <p:spPr>
          <a:xfrm>
            <a:off x="11769920" y="434192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0" name="演示研究所 SlideLab.cc">
            <a:extLst>
              <a:ext uri="{FF2B5EF4-FFF2-40B4-BE49-F238E27FC236}">
                <a16:creationId xmlns:a16="http://schemas.microsoft.com/office/drawing/2014/main" id="{17DEA72B-B9E1-5A08-53F2-09853E01F9E6}"/>
              </a:ext>
            </a:extLst>
          </p:cNvPr>
          <p:cNvSpPr>
            <a:spLocks noGrp="1"/>
          </p:cNvSpPr>
          <p:nvPr/>
        </p:nvSpPr>
        <p:spPr>
          <a:xfrm>
            <a:off x="11614866" y="434192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1" name="演示研究所 SlideLab.cc">
            <a:extLst>
              <a:ext uri="{FF2B5EF4-FFF2-40B4-BE49-F238E27FC236}">
                <a16:creationId xmlns:a16="http://schemas.microsoft.com/office/drawing/2014/main" id="{FFC9C2D6-DB97-0B47-5486-131297C83C59}"/>
              </a:ext>
            </a:extLst>
          </p:cNvPr>
          <p:cNvSpPr>
            <a:spLocks noGrp="1"/>
          </p:cNvSpPr>
          <p:nvPr/>
        </p:nvSpPr>
        <p:spPr>
          <a:xfrm>
            <a:off x="11459931" y="434192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2" name="演示研究所 SlideLab.cc">
            <a:extLst>
              <a:ext uri="{FF2B5EF4-FFF2-40B4-BE49-F238E27FC236}">
                <a16:creationId xmlns:a16="http://schemas.microsoft.com/office/drawing/2014/main" id="{81CD6406-3345-2034-5D38-A64159122178}"/>
              </a:ext>
            </a:extLst>
          </p:cNvPr>
          <p:cNvSpPr>
            <a:spLocks noGrp="1"/>
          </p:cNvSpPr>
          <p:nvPr/>
        </p:nvSpPr>
        <p:spPr>
          <a:xfrm>
            <a:off x="11304520" y="4341806"/>
            <a:ext cx="54458" cy="54984"/>
          </a:xfrm>
          <a:custGeom>
            <a:avLst/>
            <a:gdLst/>
            <a:ahLst/>
            <a:cxnLst/>
            <a:rect l="l" t="t" r="r" b="b"/>
            <a:pathLst>
              <a:path w="157362" h="158881">
                <a:moveTo>
                  <a:pt x="79713" y="158869"/>
                </a:moveTo>
                <a:cubicBezTo>
                  <a:pt x="123164" y="158294"/>
                  <a:pt x="157926" y="122265"/>
                  <a:pt x="157356" y="78397"/>
                </a:cubicBezTo>
                <a:cubicBezTo>
                  <a:pt x="156786" y="34528"/>
                  <a:pt x="121101" y="-568"/>
                  <a:pt x="77650" y="7"/>
                </a:cubicBezTo>
                <a:cubicBezTo>
                  <a:pt x="34470" y="579"/>
                  <a:pt x="-184" y="36180"/>
                  <a:pt x="1" y="79778"/>
                </a:cubicBezTo>
                <a:cubicBezTo>
                  <a:pt x="-6" y="123459"/>
                  <a:pt x="35062" y="158875"/>
                  <a:pt x="78326" y="158881"/>
                </a:cubicBezTo>
                <a:cubicBezTo>
                  <a:pt x="78789" y="158881"/>
                  <a:pt x="79251" y="158877"/>
                  <a:pt x="79713" y="158869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3" name="演示研究所 SlideLab.cc">
            <a:extLst>
              <a:ext uri="{FF2B5EF4-FFF2-40B4-BE49-F238E27FC236}">
                <a16:creationId xmlns:a16="http://schemas.microsoft.com/office/drawing/2014/main" id="{4ABF7832-B5E0-BA38-A6EB-FE98DDEFE2BB}"/>
              </a:ext>
            </a:extLst>
          </p:cNvPr>
          <p:cNvSpPr>
            <a:spLocks noGrp="1"/>
          </p:cNvSpPr>
          <p:nvPr/>
        </p:nvSpPr>
        <p:spPr>
          <a:xfrm rot="-555600">
            <a:off x="11149926" y="434194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13ED14-FE20-275F-6C44-299D9F9B49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711" y="243343"/>
            <a:ext cx="2278987" cy="113949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B7FED49-5BB6-4CCF-7B4B-4A5AEDF4B207}"/>
              </a:ext>
            </a:extLst>
          </p:cNvPr>
          <p:cNvSpPr txBox="1"/>
          <p:nvPr/>
        </p:nvSpPr>
        <p:spPr>
          <a:xfrm>
            <a:off x="3933796" y="2548122"/>
            <a:ext cx="16316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zh-CN" altLang="en-US" sz="12000" b="1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09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A2F7A-AFBE-BB3A-5263-B6E3928EC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>
            <a:extLst>
              <a:ext uri="{FF2B5EF4-FFF2-40B4-BE49-F238E27FC236}">
                <a16:creationId xmlns:a16="http://schemas.microsoft.com/office/drawing/2014/main" id="{524675B5-6886-897A-9C17-F00CEDD7F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0BF5AA6A-8E27-B315-61D0-18A769AA6348}"/>
              </a:ext>
            </a:extLst>
          </p:cNvPr>
          <p:cNvSpPr>
            <a:spLocks noGrp="1"/>
          </p:cNvSpPr>
          <p:nvPr/>
        </p:nvSpPr>
        <p:spPr>
          <a:xfrm rot="1023670">
            <a:off x="-938152" y="5191720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4BF9F2C6-5411-18D1-59FD-0B6D199554B0}"/>
              </a:ext>
            </a:extLst>
          </p:cNvPr>
          <p:cNvSpPr>
            <a:spLocks noGrp="1"/>
          </p:cNvSpPr>
          <p:nvPr/>
        </p:nvSpPr>
        <p:spPr>
          <a:xfrm rot="1023670">
            <a:off x="10327292" y="5591742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148A8B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68D103E2-B63E-FF16-A5E2-DE4FA6A196EB}"/>
              </a:ext>
            </a:extLst>
          </p:cNvPr>
          <p:cNvSpPr>
            <a:spLocks noGrp="1"/>
          </p:cNvSpPr>
          <p:nvPr/>
        </p:nvSpPr>
        <p:spPr>
          <a:xfrm rot="5400000">
            <a:off x="840372" y="-49269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83E7A349-323F-54D2-4C0C-B0E223B6D2DA}"/>
              </a:ext>
            </a:extLst>
          </p:cNvPr>
          <p:cNvSpPr>
            <a:spLocks noGrp="1"/>
          </p:cNvSpPr>
          <p:nvPr/>
        </p:nvSpPr>
        <p:spPr>
          <a:xfrm>
            <a:off x="11897" y="645749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B413869-9BAA-FF7B-B17A-0806A529E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806549"/>
              </p:ext>
            </p:extLst>
          </p:nvPr>
        </p:nvGraphicFramePr>
        <p:xfrm>
          <a:off x="706245" y="1752562"/>
          <a:ext cx="10935630" cy="4756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7126">
                  <a:extLst>
                    <a:ext uri="{9D8B030D-6E8A-4147-A177-3AD203B41FA5}">
                      <a16:colId xmlns:a16="http://schemas.microsoft.com/office/drawing/2014/main" val="4069327489"/>
                    </a:ext>
                  </a:extLst>
                </a:gridCol>
                <a:gridCol w="2187126">
                  <a:extLst>
                    <a:ext uri="{9D8B030D-6E8A-4147-A177-3AD203B41FA5}">
                      <a16:colId xmlns:a16="http://schemas.microsoft.com/office/drawing/2014/main" val="797389389"/>
                    </a:ext>
                  </a:extLst>
                </a:gridCol>
                <a:gridCol w="2187126">
                  <a:extLst>
                    <a:ext uri="{9D8B030D-6E8A-4147-A177-3AD203B41FA5}">
                      <a16:colId xmlns:a16="http://schemas.microsoft.com/office/drawing/2014/main" val="1011424271"/>
                    </a:ext>
                  </a:extLst>
                </a:gridCol>
                <a:gridCol w="2187126">
                  <a:extLst>
                    <a:ext uri="{9D8B030D-6E8A-4147-A177-3AD203B41FA5}">
                      <a16:colId xmlns:a16="http://schemas.microsoft.com/office/drawing/2014/main" val="1103307897"/>
                    </a:ext>
                  </a:extLst>
                </a:gridCol>
                <a:gridCol w="2187126">
                  <a:extLst>
                    <a:ext uri="{9D8B030D-6E8A-4147-A177-3AD203B41FA5}">
                      <a16:colId xmlns:a16="http://schemas.microsoft.com/office/drawing/2014/main" val="343398346"/>
                    </a:ext>
                  </a:extLst>
                </a:gridCol>
              </a:tblGrid>
              <a:tr h="1227016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dirty="0"/>
                        <a:t>Team Member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dirty="0"/>
                        <a:t>Main Functional Responsibilities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dirty="0"/>
                        <a:t>Design / Diagrams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dirty="0"/>
                        <a:t>Testing / Iteration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dirty="0"/>
                        <a:t>Report / Management / Technical Contributions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94123"/>
                  </a:ext>
                </a:extLst>
              </a:tr>
              <a:tr h="6337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CHENSHIBO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Learner Function Analysis, User Flow, User Stories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User Flow and Requirement Structure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Internal Review, Evaluation Result Analysis, Multi-user Profile Navigation Research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Main Final Report Writing, Report Material Coordination, Individual Contribution Consolidation, GitHub Folder Organisation</a:t>
                      </a:r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608212"/>
                  </a:ext>
                </a:extLst>
              </a:tr>
              <a:tr h="4959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CHENDAILIN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Role System, Publishing Logic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Gantt Chart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First Prototype Evaluation, Internal Group Testing, Functional Retesting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Meeting Minutes, Report Charts and Statistical Analysis, Project Management Documentation</a:t>
                      </a:r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509653"/>
                  </a:ext>
                </a:extLst>
              </a:tr>
              <a:tr h="4959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WANGZEHAO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Editor, Draft and Publishing Functions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ER Diagram, High-Fidelity Prototype V2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First and Second Prototype Evaluations, Functional and User Experience Testing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Evaluation Results and Supporting Materials</a:t>
                      </a:r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747405"/>
                  </a:ext>
                </a:extLst>
              </a:tr>
              <a:tr h="4959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LIGUONING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Course, Shopping Cart, Payment and Learning Pages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High-Fidelity Prototype V1, Four Prototype Iterations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UI/UX Improvements, Bug Fixes, Sponsor-Feedback-Based Iteration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Final Group Presentation / PowerPoint, Prototype and Wireframe Materials</a:t>
                      </a:r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821982"/>
                  </a:ext>
                </a:extLst>
              </a:tr>
              <a:tr h="4815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YANGFENG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Points System, Refund Logic, Admin Rules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High-Fidelity Prototype V3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Bug Fixing, Second Prototype Evaluation, Logic Validation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Points / Wallet and Refund Business Rules</a:t>
                      </a:r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023393"/>
                  </a:ext>
                </a:extLst>
              </a:tr>
              <a:tr h="6337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WANGFUMING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Admin Pages, System Integration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21 Use Case Diagrams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Integration and Testing of the 23-Screen Prototype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000" dirty="0"/>
                        <a:t>Technology Stack Selection, Google OAuth Proof of Concept, GitHub Material Management, Technical Integration</a:t>
                      </a:r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12482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A3D6E731-279D-A9EE-8FEE-AA798B5A46F5}"/>
              </a:ext>
            </a:extLst>
          </p:cNvPr>
          <p:cNvSpPr txBox="1"/>
          <p:nvPr/>
        </p:nvSpPr>
        <p:spPr>
          <a:xfrm>
            <a:off x="3826109" y="794825"/>
            <a:ext cx="51458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Individual Contribution Summary</a:t>
            </a:r>
            <a:endParaRPr lang="zh-CN" altLang="en-US" sz="2800" b="1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12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演示研究所 SlideLab.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6CB81A03-5180-0595-E43D-0836FB28E7A7}"/>
              </a:ext>
            </a:extLst>
          </p:cNvPr>
          <p:cNvSpPr>
            <a:spLocks noGrp="1"/>
          </p:cNvSpPr>
          <p:nvPr/>
        </p:nvSpPr>
        <p:spPr>
          <a:xfrm rot="5400000">
            <a:off x="5510382" y="-948756"/>
            <a:ext cx="988675" cy="3339181"/>
          </a:xfrm>
          <a:prstGeom prst="round2SameRect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093839DA-09BD-975E-DD69-4655E19B85E5}"/>
              </a:ext>
            </a:extLst>
          </p:cNvPr>
          <p:cNvSpPr>
            <a:spLocks noGrp="1"/>
          </p:cNvSpPr>
          <p:nvPr/>
        </p:nvSpPr>
        <p:spPr>
          <a:xfrm>
            <a:off x="4758483" y="428446"/>
            <a:ext cx="2492472" cy="58477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34449B17-BB26-1448-977B-A2D9D0387B02}"/>
              </a:ext>
            </a:extLst>
          </p:cNvPr>
          <p:cNvSpPr>
            <a:spLocks noGrp="1"/>
          </p:cNvSpPr>
          <p:nvPr/>
        </p:nvSpPr>
        <p:spPr>
          <a:xfrm>
            <a:off x="3478536" y="1394419"/>
            <a:ext cx="5052365" cy="64633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l">
              <a:defRPr sz="3600">
                <a:solidFill>
                  <a:srgbClr val="148A8B"/>
                </a:solidFill>
                <a:latin typeface="Arial"/>
                <a:ea typeface="Arial"/>
                <a:cs typeface="Arial"/>
              </a:defRPr>
            </a:pPr>
            <a:r>
              <a:rPr lang="en-US" sz="3600" dirty="0">
                <a:solidFill>
                  <a:srgbClr val="148A8B"/>
                </a:solidFill>
                <a:latin typeface="Arial"/>
                <a:ea typeface="Arial"/>
                <a:cs typeface="Arial"/>
              </a:rPr>
              <a:t>TABLE OF </a:t>
            </a:r>
            <a:r>
              <a:rPr sz="3600" dirty="0">
                <a:solidFill>
                  <a:srgbClr val="148A8B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36" name="演示研究所 SlideLab.cc">
            <a:extLst>
              <a:ext uri="{FF2B5EF4-FFF2-40B4-BE49-F238E27FC236}">
                <a16:creationId xmlns:a16="http://schemas.microsoft.com/office/drawing/2014/main" id="{9CBCD556-E99E-2C43-4A10-7D0DF2CCF52F}"/>
              </a:ext>
            </a:extLst>
          </p:cNvPr>
          <p:cNvSpPr>
            <a:spLocks noGrp="1"/>
          </p:cNvSpPr>
          <p:nvPr/>
        </p:nvSpPr>
        <p:spPr>
          <a:xfrm>
            <a:off x="46606" y="4370710"/>
            <a:ext cx="2384891" cy="5232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400" b="1" dirty="0"/>
              <a:t>Project Overview &amp; Technology Stack</a:t>
            </a:r>
            <a:endParaRPr sz="1400" b="1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演示研究所 SlideLab.cc">
            <a:extLst>
              <a:ext uri="{FF2B5EF4-FFF2-40B4-BE49-F238E27FC236}">
                <a16:creationId xmlns:a16="http://schemas.microsoft.com/office/drawing/2014/main" id="{2D7042DC-E534-B63E-0D61-23E894555B20}"/>
              </a:ext>
            </a:extLst>
          </p:cNvPr>
          <p:cNvSpPr>
            <a:spLocks noGrp="1"/>
          </p:cNvSpPr>
          <p:nvPr/>
        </p:nvSpPr>
        <p:spPr>
          <a:xfrm>
            <a:off x="668703" y="3045491"/>
            <a:ext cx="830202" cy="830202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41" name="演示研究所 SlideLab.cc">
            <a:extLst>
              <a:ext uri="{FF2B5EF4-FFF2-40B4-BE49-F238E27FC236}">
                <a16:creationId xmlns:a16="http://schemas.microsoft.com/office/drawing/2014/main" id="{D943972B-3A32-D4D8-12FD-F53AB14B1CE9}"/>
              </a:ext>
            </a:extLst>
          </p:cNvPr>
          <p:cNvSpPr>
            <a:spLocks noGrp="1"/>
          </p:cNvSpPr>
          <p:nvPr/>
        </p:nvSpPr>
        <p:spPr>
          <a:xfrm>
            <a:off x="668703" y="3227720"/>
            <a:ext cx="8302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 i="0" u="none" cap="none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</a:p>
        </p:txBody>
      </p:sp>
      <p:sp>
        <p:nvSpPr>
          <p:cNvPr id="42" name="演示研究所 SlideLab.cc">
            <a:extLst>
              <a:ext uri="{FF2B5EF4-FFF2-40B4-BE49-F238E27FC236}">
                <a16:creationId xmlns:a16="http://schemas.microsoft.com/office/drawing/2014/main" id="{0A8055F7-3964-97CE-7417-C2D5F3D85D71}"/>
              </a:ext>
            </a:extLst>
          </p:cNvPr>
          <p:cNvSpPr>
            <a:spLocks noGrp="1"/>
          </p:cNvSpPr>
          <p:nvPr/>
        </p:nvSpPr>
        <p:spPr>
          <a:xfrm>
            <a:off x="2237740" y="5067267"/>
            <a:ext cx="2384891" cy="5232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400" b="1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400" b="1" dirty="0"/>
              <a:t>User Purchase &amp; Learning Experience</a:t>
            </a:r>
            <a:endParaRPr sz="1400" b="1" dirty="0">
              <a:solidFill>
                <a:srgbClr val="5361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演示研究所 SlideLab.cc">
            <a:extLst>
              <a:ext uri="{FF2B5EF4-FFF2-40B4-BE49-F238E27FC236}">
                <a16:creationId xmlns:a16="http://schemas.microsoft.com/office/drawing/2014/main" id="{93536A6D-4E8B-EC9C-9735-9111656BD661}"/>
              </a:ext>
            </a:extLst>
          </p:cNvPr>
          <p:cNvSpPr>
            <a:spLocks noGrp="1"/>
          </p:cNvSpPr>
          <p:nvPr/>
        </p:nvSpPr>
        <p:spPr>
          <a:xfrm>
            <a:off x="3063435" y="3966881"/>
            <a:ext cx="830202" cy="830202"/>
          </a:xfrm>
          <a:prstGeom prst="ellipse">
            <a:avLst/>
          </a:prstGeom>
          <a:solidFill>
            <a:srgbClr val="148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演示研究所 SlideLab.cc">
            <a:extLst>
              <a:ext uri="{FF2B5EF4-FFF2-40B4-BE49-F238E27FC236}">
                <a16:creationId xmlns:a16="http://schemas.microsoft.com/office/drawing/2014/main" id="{489E8126-E54B-60DD-B24C-B5B383667DE2}"/>
              </a:ext>
            </a:extLst>
          </p:cNvPr>
          <p:cNvSpPr>
            <a:spLocks noGrp="1"/>
          </p:cNvSpPr>
          <p:nvPr/>
        </p:nvSpPr>
        <p:spPr>
          <a:xfrm>
            <a:off x="3063435" y="4149110"/>
            <a:ext cx="8302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 i="0" u="none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</a:p>
        </p:txBody>
      </p:sp>
      <p:sp>
        <p:nvSpPr>
          <p:cNvPr id="48" name="演示研究所 SlideLab.cc">
            <a:extLst>
              <a:ext uri="{FF2B5EF4-FFF2-40B4-BE49-F238E27FC236}">
                <a16:creationId xmlns:a16="http://schemas.microsoft.com/office/drawing/2014/main" id="{E748E0E1-7F4E-0662-B045-C50B732E11ED}"/>
              </a:ext>
            </a:extLst>
          </p:cNvPr>
          <p:cNvSpPr>
            <a:spLocks noGrp="1"/>
          </p:cNvSpPr>
          <p:nvPr/>
        </p:nvSpPr>
        <p:spPr>
          <a:xfrm>
            <a:off x="4673076" y="4382446"/>
            <a:ext cx="2384891" cy="5232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400" b="1" dirty="0"/>
              <a:t>Creator &amp; Trainer Publishing Features</a:t>
            </a:r>
            <a:endParaRPr sz="1400" b="1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演示研究所 SlideLab.cc">
            <a:extLst>
              <a:ext uri="{FF2B5EF4-FFF2-40B4-BE49-F238E27FC236}">
                <a16:creationId xmlns:a16="http://schemas.microsoft.com/office/drawing/2014/main" id="{19FA7DD1-F15A-C0A8-B145-0ED4E20579B5}"/>
              </a:ext>
            </a:extLst>
          </p:cNvPr>
          <p:cNvSpPr>
            <a:spLocks noGrp="1"/>
          </p:cNvSpPr>
          <p:nvPr/>
        </p:nvSpPr>
        <p:spPr>
          <a:xfrm>
            <a:off x="7199752" y="5027334"/>
            <a:ext cx="2384891" cy="73866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400" b="1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400" b="1" dirty="0"/>
              <a:t>Points System, Refund Policy &amp; Admin Management</a:t>
            </a:r>
            <a:endParaRPr sz="1400" b="1" dirty="0">
              <a:solidFill>
                <a:srgbClr val="5361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演示研究所 SlideLab.cc">
            <a:extLst>
              <a:ext uri="{FF2B5EF4-FFF2-40B4-BE49-F238E27FC236}">
                <a16:creationId xmlns:a16="http://schemas.microsoft.com/office/drawing/2014/main" id="{475D0E82-4EA7-4F18-CB54-997A000A5348}"/>
              </a:ext>
            </a:extLst>
          </p:cNvPr>
          <p:cNvSpPr>
            <a:spLocks noGrp="1"/>
          </p:cNvSpPr>
          <p:nvPr/>
        </p:nvSpPr>
        <p:spPr>
          <a:xfrm>
            <a:off x="7977095" y="4019246"/>
            <a:ext cx="830202" cy="830202"/>
          </a:xfrm>
          <a:prstGeom prst="ellipse">
            <a:avLst/>
          </a:prstGeom>
          <a:solidFill>
            <a:srgbClr val="C7A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演示研究所 SlideLab.cc">
            <a:extLst>
              <a:ext uri="{FF2B5EF4-FFF2-40B4-BE49-F238E27FC236}">
                <a16:creationId xmlns:a16="http://schemas.microsoft.com/office/drawing/2014/main" id="{74B03BFB-808C-36C7-1687-0EC106C4B2A4}"/>
              </a:ext>
            </a:extLst>
          </p:cNvPr>
          <p:cNvSpPr>
            <a:spLocks noGrp="1"/>
          </p:cNvSpPr>
          <p:nvPr/>
        </p:nvSpPr>
        <p:spPr>
          <a:xfrm>
            <a:off x="7977095" y="4201475"/>
            <a:ext cx="8302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 i="0" u="none" cap="none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C124EDA7-87D5-7156-8DF9-D34E7723256F}"/>
              </a:ext>
            </a:extLst>
          </p:cNvPr>
          <p:cNvSpPr>
            <a:spLocks noGrp="1"/>
          </p:cNvSpPr>
          <p:nvPr/>
        </p:nvSpPr>
        <p:spPr>
          <a:xfrm>
            <a:off x="10377074" y="3043451"/>
            <a:ext cx="830202" cy="830202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C4FE17AE-4929-3F7D-F9C2-1D655BF97694}"/>
              </a:ext>
            </a:extLst>
          </p:cNvPr>
          <p:cNvSpPr>
            <a:spLocks noGrp="1"/>
          </p:cNvSpPr>
          <p:nvPr/>
        </p:nvSpPr>
        <p:spPr>
          <a:xfrm>
            <a:off x="10368666" y="3170147"/>
            <a:ext cx="8302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 i="0" u="none" cap="none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6548141A-7CFD-B2F5-38C6-8D052C4B7BC6}"/>
              </a:ext>
            </a:extLst>
          </p:cNvPr>
          <p:cNvSpPr>
            <a:spLocks noGrp="1"/>
          </p:cNvSpPr>
          <p:nvPr/>
        </p:nvSpPr>
        <p:spPr>
          <a:xfrm>
            <a:off x="9599730" y="4416799"/>
            <a:ext cx="2384891" cy="3077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Conclusion &amp; References</a:t>
            </a:r>
            <a:endParaRPr sz="1400" b="1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2F593E9F-2F5D-675C-58C5-E99A6854BD59}"/>
              </a:ext>
            </a:extLst>
          </p:cNvPr>
          <p:cNvSpPr>
            <a:spLocks noGrp="1"/>
          </p:cNvSpPr>
          <p:nvPr/>
        </p:nvSpPr>
        <p:spPr>
          <a:xfrm>
            <a:off x="5518684" y="3596267"/>
            <a:ext cx="830202" cy="83020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3064304-8148-C431-324C-156BD1C35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080" y="382232"/>
            <a:ext cx="2278987" cy="113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10262B63-FEB9-2320-29C4-442CC976F31C}"/>
              </a:ext>
            </a:extLst>
          </p:cNvPr>
          <p:cNvSpPr>
            <a:spLocks noGrp="1"/>
          </p:cNvSpPr>
          <p:nvPr/>
        </p:nvSpPr>
        <p:spPr>
          <a:xfrm rot="1023670">
            <a:off x="-938152" y="5191720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93D3B67A-DC0B-7C82-CEB0-8894F2F89C88}"/>
              </a:ext>
            </a:extLst>
          </p:cNvPr>
          <p:cNvSpPr>
            <a:spLocks noGrp="1"/>
          </p:cNvSpPr>
          <p:nvPr/>
        </p:nvSpPr>
        <p:spPr>
          <a:xfrm>
            <a:off x="6149051" y="3823654"/>
            <a:ext cx="5448900" cy="52322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marL="0" algn="l">
              <a:defRPr sz="14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53616B"/>
                </a:solidFill>
                <a:latin typeface="Arial"/>
                <a:ea typeface="Arial"/>
                <a:cs typeface="Arial"/>
              </a:rPr>
              <a:t>A unified experience for learners, instructors, and creators—combining courses, progress tracking, and knowledge exchange.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1CEF02BF-F9CE-822A-10C1-A0FA45C1A600}"/>
              </a:ext>
            </a:extLst>
          </p:cNvPr>
          <p:cNvSpPr>
            <a:spLocks noGrp="1"/>
          </p:cNvSpPr>
          <p:nvPr/>
        </p:nvSpPr>
        <p:spPr>
          <a:xfrm>
            <a:off x="6279533" y="3268721"/>
            <a:ext cx="4768276" cy="271036"/>
          </a:xfrm>
          <a:prstGeom prst="roundRect">
            <a:avLst>
              <a:gd name="adj" fmla="val 50000"/>
            </a:avLst>
          </a:prstGeom>
          <a:solidFill>
            <a:srgbClr val="E8D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2C6D3145-D593-0C9C-835F-AFB3DB1C7287}"/>
              </a:ext>
            </a:extLst>
          </p:cNvPr>
          <p:cNvSpPr>
            <a:spLocks noGrp="1"/>
          </p:cNvSpPr>
          <p:nvPr/>
        </p:nvSpPr>
        <p:spPr>
          <a:xfrm>
            <a:off x="5000134" y="1965178"/>
            <a:ext cx="7327073" cy="156966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4800" b="1" dirty="0">
                <a:solidFill>
                  <a:schemeClr val="accent2"/>
                </a:solidFill>
              </a:rPr>
              <a:t>Project Overview &amp; Technology Stack</a:t>
            </a:r>
            <a:endParaRPr lang="en-US" altLang="zh-CN" sz="4800" b="1" dirty="0">
              <a:solidFill>
                <a:schemeClr val="accent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B19BEBFD-9069-43B6-2A76-10F21CCCE2E5}"/>
              </a:ext>
            </a:extLst>
          </p:cNvPr>
          <p:cNvSpPr>
            <a:spLocks noGrp="1"/>
          </p:cNvSpPr>
          <p:nvPr/>
        </p:nvSpPr>
        <p:spPr>
          <a:xfrm>
            <a:off x="6584100" y="1290529"/>
            <a:ext cx="3391592" cy="40011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marL="0" algn="l">
              <a:defRPr sz="2000">
                <a:solidFill>
                  <a:srgbClr val="485660"/>
                </a:solidFill>
                <a:latin typeface="Arial"/>
                <a:ea typeface="Arial"/>
                <a:cs typeface="Arial"/>
              </a:defRPr>
            </a:pPr>
            <a:r>
              <a:rPr sz="2000" dirty="0">
                <a:solidFill>
                  <a:srgbClr val="485660"/>
                </a:solidFill>
                <a:latin typeface="Arial"/>
                <a:ea typeface="Arial"/>
                <a:cs typeface="Arial"/>
              </a:rPr>
              <a:t>PLATFORM OVERVIEW</a:t>
            </a: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7C0D8CE3-16FA-47B4-B51E-72D941341E45}"/>
              </a:ext>
            </a:extLst>
          </p:cNvPr>
          <p:cNvSpPr>
            <a:spLocks noGrp="1"/>
          </p:cNvSpPr>
          <p:nvPr/>
        </p:nvSpPr>
        <p:spPr>
          <a:xfrm>
            <a:off x="2724245" y="1809375"/>
            <a:ext cx="2275889" cy="2275889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4A7A1E51-2F11-598D-5EB8-E0C147BD3FD1}"/>
              </a:ext>
            </a:extLst>
          </p:cNvPr>
          <p:cNvSpPr>
            <a:spLocks noGrp="1"/>
          </p:cNvSpPr>
          <p:nvPr/>
        </p:nvSpPr>
        <p:spPr>
          <a:xfrm>
            <a:off x="2098366" y="1961606"/>
            <a:ext cx="3541468" cy="186204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1500" b="1">
                <a:solidFill>
                  <a:srgbClr val="D8E3E6"/>
                </a:solidFill>
                <a:latin typeface="Arial"/>
                <a:ea typeface="Arial"/>
                <a:cs typeface="Arial"/>
              </a:defRPr>
            </a:pPr>
            <a:r>
              <a:rPr sz="1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BAC8C96D-9297-575E-EC9D-825EFA86ED18}"/>
              </a:ext>
            </a:extLst>
          </p:cNvPr>
          <p:cNvSpPr>
            <a:spLocks noGrp="1"/>
          </p:cNvSpPr>
          <p:nvPr/>
        </p:nvSpPr>
        <p:spPr>
          <a:xfrm rot="1023670">
            <a:off x="10327292" y="5591742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148A8B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361FACD1-CADF-5503-834E-2E2E0396D91B}"/>
              </a:ext>
            </a:extLst>
          </p:cNvPr>
          <p:cNvSpPr>
            <a:spLocks noGrp="1"/>
          </p:cNvSpPr>
          <p:nvPr/>
        </p:nvSpPr>
        <p:spPr>
          <a:xfrm rot="5400000">
            <a:off x="840372" y="-49269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A0877A6B-219B-D1B5-7443-40BE2AC53CD8}"/>
              </a:ext>
            </a:extLst>
          </p:cNvPr>
          <p:cNvSpPr>
            <a:spLocks noGrp="1"/>
          </p:cNvSpPr>
          <p:nvPr/>
        </p:nvSpPr>
        <p:spPr>
          <a:xfrm>
            <a:off x="11897" y="645749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053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演示研究所 SlideLab.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DAFF80ED-D55E-4D3E-AB52-ED7B0009E475}"/>
              </a:ext>
            </a:extLst>
          </p:cNvPr>
          <p:cNvSpPr>
            <a:spLocks noGrp="1"/>
          </p:cNvSpPr>
          <p:nvPr/>
        </p:nvSpPr>
        <p:spPr>
          <a:xfrm flipV="1">
            <a:off x="10898036" y="380191"/>
            <a:ext cx="898750" cy="681320"/>
          </a:xfrm>
          <a:custGeom>
            <a:avLst/>
            <a:gdLst/>
            <a:ahLst/>
            <a:cxnLst/>
            <a:rect l="l" t="t" r="r" b="b"/>
            <a:pathLst>
              <a:path w="1077550" h="816864">
                <a:moveTo>
                  <a:pt x="826831" y="0"/>
                </a:moveTo>
                <a:lnTo>
                  <a:pt x="0" y="816864"/>
                </a:lnTo>
                <a:lnTo>
                  <a:pt x="1077550" y="738221"/>
                </a:lnTo>
                <a:lnTo>
                  <a:pt x="847372" y="504151"/>
                </a:lnTo>
                <a:lnTo>
                  <a:pt x="826831" y="0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B76D9F5B-07B1-4D2C-9B17-28A09A2EA067}"/>
              </a:ext>
            </a:extLst>
          </p:cNvPr>
          <p:cNvSpPr>
            <a:spLocks noGrp="1"/>
          </p:cNvSpPr>
          <p:nvPr/>
        </p:nvSpPr>
        <p:spPr>
          <a:xfrm rot="6974313" flipV="1">
            <a:off x="250876" y="5655495"/>
            <a:ext cx="931291" cy="713890"/>
          </a:xfrm>
          <a:custGeom>
            <a:avLst/>
            <a:gdLst/>
            <a:ahLst/>
            <a:cxnLst/>
            <a:rect l="l" t="t" r="r" b="b"/>
            <a:pathLst>
              <a:path w="1116564" h="855913">
                <a:moveTo>
                  <a:pt x="1105087" y="775507"/>
                </a:moveTo>
                <a:cubicBezTo>
                  <a:pt x="1103011" y="776474"/>
                  <a:pt x="1100786" y="777069"/>
                  <a:pt x="1098413" y="777218"/>
                </a:cubicBezTo>
                <a:lnTo>
                  <a:pt x="20863" y="855861"/>
                </a:lnTo>
                <a:cubicBezTo>
                  <a:pt x="12706" y="856456"/>
                  <a:pt x="5068" y="851918"/>
                  <a:pt x="1731" y="844403"/>
                </a:cubicBezTo>
                <a:cubicBezTo>
                  <a:pt x="-1606" y="836963"/>
                  <a:pt x="-49" y="828184"/>
                  <a:pt x="5809" y="822455"/>
                </a:cubicBezTo>
                <a:lnTo>
                  <a:pt x="832641" y="5590"/>
                </a:lnTo>
                <a:cubicBezTo>
                  <a:pt x="838128" y="233"/>
                  <a:pt x="846285" y="-1478"/>
                  <a:pt x="853478" y="1349"/>
                </a:cubicBezTo>
                <a:cubicBezTo>
                  <a:pt x="860671" y="4177"/>
                  <a:pt x="865491" y="11022"/>
                  <a:pt x="865788" y="18685"/>
                </a:cubicBezTo>
                <a:lnTo>
                  <a:pt x="886032" y="515247"/>
                </a:lnTo>
                <a:lnTo>
                  <a:pt x="1110945" y="743960"/>
                </a:lnTo>
                <a:cubicBezTo>
                  <a:pt x="1116285" y="749391"/>
                  <a:pt x="1117990" y="757427"/>
                  <a:pt x="1115321" y="764569"/>
                </a:cubicBezTo>
                <a:cubicBezTo>
                  <a:pt x="1113467" y="769480"/>
                  <a:pt x="1109759" y="773349"/>
                  <a:pt x="1105161" y="775507"/>
                </a:cubicBezTo>
                <a:close/>
                <a:moveTo>
                  <a:pt x="70843" y="813005"/>
                </a:moveTo>
                <a:lnTo>
                  <a:pt x="1053549" y="741281"/>
                </a:lnTo>
                <a:lnTo>
                  <a:pt x="853033" y="537270"/>
                </a:lnTo>
                <a:cubicBezTo>
                  <a:pt x="849622" y="533848"/>
                  <a:pt x="847620" y="529235"/>
                  <a:pt x="847472" y="524324"/>
                </a:cubicBezTo>
                <a:lnTo>
                  <a:pt x="828710" y="64294"/>
                </a:lnTo>
                <a:lnTo>
                  <a:pt x="70843" y="813005"/>
                </a:lnTo>
                <a:close/>
              </a:path>
            </a:pathLst>
          </a:custGeom>
          <a:solidFill>
            <a:srgbClr val="148A8B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9C54F5A9-87B4-489C-B3E6-3CCDC223A84F}"/>
              </a:ext>
            </a:extLst>
          </p:cNvPr>
          <p:cNvSpPr>
            <a:spLocks noGrp="1"/>
          </p:cNvSpPr>
          <p:nvPr/>
        </p:nvSpPr>
        <p:spPr>
          <a:xfrm rot="21316033" flipV="1">
            <a:off x="10908925" y="342458"/>
            <a:ext cx="940067" cy="442339"/>
          </a:xfrm>
          <a:custGeom>
            <a:avLst/>
            <a:gdLst/>
            <a:ahLst/>
            <a:cxnLst/>
            <a:rect l="l" t="t" r="r" b="b"/>
            <a:pathLst>
              <a:path w="1127086" h="530340">
                <a:moveTo>
                  <a:pt x="0" y="530341"/>
                </a:moveTo>
                <a:lnTo>
                  <a:pt x="1127086" y="129609"/>
                </a:lnTo>
                <a:lnTo>
                  <a:pt x="784637" y="0"/>
                </a:lnTo>
                <a:lnTo>
                  <a:pt x="0" y="530341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8C108A84-1EF4-45EF-A65C-7C439F1E7989}"/>
              </a:ext>
            </a:extLst>
          </p:cNvPr>
          <p:cNvSpPr>
            <a:spLocks noGrp="1"/>
          </p:cNvSpPr>
          <p:nvPr/>
        </p:nvSpPr>
        <p:spPr>
          <a:xfrm rot="6974313" flipV="1">
            <a:off x="325662" y="5842860"/>
            <a:ext cx="974776" cy="477222"/>
          </a:xfrm>
          <a:custGeom>
            <a:avLst/>
            <a:gdLst/>
            <a:ahLst/>
            <a:cxnLst/>
            <a:rect l="l" t="t" r="r" b="b"/>
            <a:pathLst>
              <a:path w="1168700" h="572162">
                <a:moveTo>
                  <a:pt x="1156536" y="169490"/>
                </a:moveTo>
                <a:cubicBezTo>
                  <a:pt x="1156017" y="169713"/>
                  <a:pt x="1155423" y="169937"/>
                  <a:pt x="1154830" y="170160"/>
                </a:cubicBezTo>
                <a:lnTo>
                  <a:pt x="27744" y="570966"/>
                </a:lnTo>
                <a:cubicBezTo>
                  <a:pt x="17881" y="574463"/>
                  <a:pt x="6906" y="570073"/>
                  <a:pt x="2235" y="560698"/>
                </a:cubicBezTo>
                <a:cubicBezTo>
                  <a:pt x="-2511" y="551323"/>
                  <a:pt x="529" y="539865"/>
                  <a:pt x="9205" y="533988"/>
                </a:cubicBezTo>
                <a:lnTo>
                  <a:pt x="793916" y="3573"/>
                </a:lnTo>
                <a:cubicBezTo>
                  <a:pt x="799552" y="-222"/>
                  <a:pt x="806597" y="-1040"/>
                  <a:pt x="812900" y="1341"/>
                </a:cubicBezTo>
                <a:lnTo>
                  <a:pt x="1155275" y="130950"/>
                </a:lnTo>
                <a:cubicBezTo>
                  <a:pt x="1163432" y="134075"/>
                  <a:pt x="1168846" y="141961"/>
                  <a:pt x="1168697" y="150666"/>
                </a:cubicBezTo>
                <a:cubicBezTo>
                  <a:pt x="1168623" y="158851"/>
                  <a:pt x="1163803" y="166142"/>
                  <a:pt x="1156536" y="169416"/>
                </a:cubicBezTo>
                <a:close/>
                <a:moveTo>
                  <a:pt x="168565" y="476623"/>
                </a:moveTo>
                <a:lnTo>
                  <a:pt x="1087349" y="149922"/>
                </a:lnTo>
                <a:lnTo>
                  <a:pt x="808228" y="44271"/>
                </a:lnTo>
                <a:lnTo>
                  <a:pt x="168565" y="476623"/>
                </a:lnTo>
                <a:close/>
              </a:path>
            </a:pathLst>
          </a:custGeom>
          <a:solidFill>
            <a:srgbClr val="148A8B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E0D57CBD-1917-4A45-8D38-ECBC16BD6EAA}"/>
              </a:ext>
            </a:extLst>
          </p:cNvPr>
          <p:cNvSpPr>
            <a:spLocks noGrp="1"/>
          </p:cNvSpPr>
          <p:nvPr/>
        </p:nvSpPr>
        <p:spPr>
          <a:xfrm rot="5400000">
            <a:off x="900674" y="-66703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演示研究所 SlideLab.cc">
            <a:extLst>
              <a:ext uri="{FF2B5EF4-FFF2-40B4-BE49-F238E27FC236}">
                <a16:creationId xmlns:a16="http://schemas.microsoft.com/office/drawing/2014/main" id="{BCFB9FBF-4F5B-46AA-BA14-10B65131A022}"/>
              </a:ext>
            </a:extLst>
          </p:cNvPr>
          <p:cNvSpPr>
            <a:spLocks noGrp="1"/>
          </p:cNvSpPr>
          <p:nvPr/>
        </p:nvSpPr>
        <p:spPr>
          <a:xfrm rot="1023670">
            <a:off x="10242194" y="5547268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93D0F7BE-72C1-45A6-B156-4D197A8BABA1}"/>
              </a:ext>
            </a:extLst>
          </p:cNvPr>
          <p:cNvSpPr>
            <a:spLocks noGrp="1"/>
          </p:cNvSpPr>
          <p:nvPr/>
        </p:nvSpPr>
        <p:spPr>
          <a:xfrm>
            <a:off x="1777832" y="1308930"/>
            <a:ext cx="3287266" cy="5265511"/>
          </a:xfrm>
          <a:custGeom>
            <a:avLst/>
            <a:gdLst/>
            <a:ahLst/>
            <a:cxnLst/>
            <a:rect l="l" t="t" r="r" b="b"/>
            <a:pathLst>
              <a:path w="3287266" h="5265511">
                <a:moveTo>
                  <a:pt x="0" y="0"/>
                </a:moveTo>
                <a:lnTo>
                  <a:pt x="3287266" y="0"/>
                </a:lnTo>
                <a:lnTo>
                  <a:pt x="3287266" y="5265511"/>
                </a:lnTo>
                <a:lnTo>
                  <a:pt x="0" y="5265511"/>
                </a:lnTo>
                <a:close/>
              </a:path>
            </a:pathLst>
          </a:custGeom>
          <a:blipFill>
            <a:blip r:embed="rId4"/>
            <a:srcRect/>
            <a:stretch>
              <a:fillRect l="-3393" r="-3393"/>
            </a:stretch>
          </a:blip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DD82E875-0246-4749-90A7-A046C8B97550}"/>
              </a:ext>
            </a:extLst>
          </p:cNvPr>
          <p:cNvSpPr>
            <a:spLocks noGrp="1"/>
          </p:cNvSpPr>
          <p:nvPr/>
        </p:nvSpPr>
        <p:spPr>
          <a:xfrm>
            <a:off x="408311" y="2649551"/>
            <a:ext cx="744181" cy="271271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73C0EF85-7A72-7A46-A070-B35A71085974}"/>
              </a:ext>
            </a:extLst>
          </p:cNvPr>
          <p:cNvSpPr>
            <a:spLocks noGrp="1"/>
          </p:cNvSpPr>
          <p:nvPr/>
        </p:nvSpPr>
        <p:spPr>
          <a:xfrm>
            <a:off x="5579305" y="781594"/>
            <a:ext cx="4497756" cy="156966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r>
              <a:rPr lang="en-US" altLang="zh-CN" sz="1600" b="1" dirty="0" err="1"/>
              <a:t>CoLearnX</a:t>
            </a:r>
            <a:r>
              <a:rPr lang="en-US" altLang="zh-CN" sz="1600" b="1" dirty="0"/>
              <a:t> </a:t>
            </a:r>
            <a:r>
              <a:rPr lang="zh-CN" altLang="zh-CN" sz="1600" b="1" dirty="0"/>
              <a:t>Learning Platform Overview</a:t>
            </a:r>
            <a:endParaRPr lang="zh-CN" altLang="zh-CN" sz="1600" dirty="0"/>
          </a:p>
          <a:p>
            <a:endParaRPr lang="en-US" altLang="zh-CN" sz="1600" dirty="0"/>
          </a:p>
          <a:p>
            <a:r>
              <a:rPr lang="en-US" altLang="zh-CN" sz="1600" dirty="0" err="1"/>
              <a:t>CoLearnX</a:t>
            </a:r>
            <a:r>
              <a:rPr lang="en-US" altLang="zh-CN" sz="1600" b="1" dirty="0"/>
              <a:t> </a:t>
            </a:r>
            <a:r>
              <a:rPr lang="zh-CN" altLang="zh-CN" sz="1600" dirty="0"/>
              <a:t>is a role-based online learning platform that connects learners, trainers, content creators and administrators in one system.</a:t>
            </a:r>
          </a:p>
          <a:p>
            <a:pPr marL="0" algn="l">
              <a:defRPr sz="14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endParaRPr sz="1600" i="1" dirty="0">
              <a:solidFill>
                <a:srgbClr val="5361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83F2650A-22A0-0E43-B73E-46E82B80864E}"/>
              </a:ext>
            </a:extLst>
          </p:cNvPr>
          <p:cNvSpPr>
            <a:spLocks noGrp="1"/>
          </p:cNvSpPr>
          <p:nvPr/>
        </p:nvSpPr>
        <p:spPr>
          <a:xfrm>
            <a:off x="5600376" y="2440558"/>
            <a:ext cx="6411259" cy="1986954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lvl1pPr>
              <a:lnSpc>
                <a:spcPct val="130000"/>
              </a:lnSpc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r>
              <a:rPr lang="zh-CN" altLang="zh-CN" sz="16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 User Roles</a:t>
            </a:r>
          </a:p>
          <a:p>
            <a:r>
              <a:rPr lang="zh-CN" altLang="zh-CN" sz="16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  <a:r>
              <a:rPr lang="zh-CN" altLang="zh-CN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— Browses, purchases and accesses courses and digital content. </a:t>
            </a:r>
          </a:p>
          <a:p>
            <a:r>
              <a:rPr lang="zh-CN" altLang="zh-CN" sz="16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Trainer</a:t>
            </a:r>
            <a:r>
              <a:rPr lang="zh-CN" altLang="zh-CN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— Creates and manages online or offline courses. </a:t>
            </a:r>
          </a:p>
          <a:p>
            <a:r>
              <a:rPr lang="zh-CN" altLang="zh-CN" sz="16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Creator</a:t>
            </a:r>
            <a:r>
              <a:rPr lang="zh-CN" altLang="zh-CN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— Publishes and sells digital learning resources. </a:t>
            </a:r>
          </a:p>
          <a:p>
            <a:r>
              <a:rPr lang="zh-CN" altLang="zh-CN" sz="16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Administrator</a:t>
            </a:r>
            <a:r>
              <a:rPr lang="zh-CN" altLang="zh-CN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— Reviews role applications, refunds and platform activities.</a:t>
            </a:r>
          </a:p>
          <a:p>
            <a:pPr marL="0" algn="l">
              <a:defRPr sz="14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endParaRPr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BBC7C6DA-3749-2E40-AE84-BA071A6B9237}"/>
              </a:ext>
            </a:extLst>
          </p:cNvPr>
          <p:cNvSpPr>
            <a:spLocks noGrp="1"/>
          </p:cNvSpPr>
          <p:nvPr/>
        </p:nvSpPr>
        <p:spPr>
          <a:xfrm>
            <a:off x="5505384" y="4443488"/>
            <a:ext cx="4908784" cy="1986954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lvl1pPr>
              <a:lnSpc>
                <a:spcPct val="130000"/>
              </a:lnSpc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r>
              <a:rPr lang="zh-CN" altLang="zh-CN" sz="1600" b="1" dirty="0">
                <a:solidFill>
                  <a:schemeClr val="accent1">
                    <a:lumMod val="75000"/>
                  </a:schemeClr>
                </a:solidFill>
              </a:rPr>
              <a:t>Core Platform Functions</a:t>
            </a:r>
          </a:p>
          <a:p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Course and digital content marketplace </a:t>
            </a:r>
          </a:p>
          <a:p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Trainer and Creator publishing tools </a:t>
            </a:r>
          </a:p>
          <a:p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Unified point purchase and income system </a:t>
            </a:r>
          </a:p>
          <a:p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Learning status and purchase record management </a:t>
            </a:r>
          </a:p>
          <a:p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Refund requests and Admin review</a:t>
            </a: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4078D5D2-29C9-EF6D-7BA4-1B62F125E02D}"/>
              </a:ext>
            </a:extLst>
          </p:cNvPr>
          <p:cNvSpPr>
            <a:spLocks noGrp="1"/>
          </p:cNvSpPr>
          <p:nvPr/>
        </p:nvSpPr>
        <p:spPr>
          <a:xfrm>
            <a:off x="-256200" y="469913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14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BA5AA-8B8A-341D-7A9B-94BAE673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演示研究所 SlideLab.cc">
            <a:extLst>
              <a:ext uri="{FF2B5EF4-FFF2-40B4-BE49-F238E27FC236}">
                <a16:creationId xmlns:a16="http://schemas.microsoft.com/office/drawing/2014/main" id="{7895B49A-4D55-0997-A4DD-F2CEFAA50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ED2135FB-63E4-C5E0-62C6-893154D380BD}"/>
              </a:ext>
            </a:extLst>
          </p:cNvPr>
          <p:cNvSpPr>
            <a:spLocks noGrp="1"/>
          </p:cNvSpPr>
          <p:nvPr/>
        </p:nvSpPr>
        <p:spPr>
          <a:xfrm flipV="1">
            <a:off x="10898036" y="380191"/>
            <a:ext cx="898750" cy="681320"/>
          </a:xfrm>
          <a:custGeom>
            <a:avLst/>
            <a:gdLst/>
            <a:ahLst/>
            <a:cxnLst/>
            <a:rect l="l" t="t" r="r" b="b"/>
            <a:pathLst>
              <a:path w="1077550" h="816864">
                <a:moveTo>
                  <a:pt x="826831" y="0"/>
                </a:moveTo>
                <a:lnTo>
                  <a:pt x="0" y="816864"/>
                </a:lnTo>
                <a:lnTo>
                  <a:pt x="1077550" y="738221"/>
                </a:lnTo>
                <a:lnTo>
                  <a:pt x="847372" y="504151"/>
                </a:lnTo>
                <a:lnTo>
                  <a:pt x="826831" y="0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9E594015-2808-5EB9-7FED-8C91E0963840}"/>
              </a:ext>
            </a:extLst>
          </p:cNvPr>
          <p:cNvSpPr>
            <a:spLocks noGrp="1"/>
          </p:cNvSpPr>
          <p:nvPr/>
        </p:nvSpPr>
        <p:spPr>
          <a:xfrm rot="21316033" flipV="1">
            <a:off x="10908925" y="342458"/>
            <a:ext cx="940067" cy="442339"/>
          </a:xfrm>
          <a:custGeom>
            <a:avLst/>
            <a:gdLst/>
            <a:ahLst/>
            <a:cxnLst/>
            <a:rect l="l" t="t" r="r" b="b"/>
            <a:pathLst>
              <a:path w="1127086" h="530340">
                <a:moveTo>
                  <a:pt x="0" y="530341"/>
                </a:moveTo>
                <a:lnTo>
                  <a:pt x="1127086" y="129609"/>
                </a:lnTo>
                <a:lnTo>
                  <a:pt x="784637" y="0"/>
                </a:lnTo>
                <a:lnTo>
                  <a:pt x="0" y="530341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B116C312-57F9-69D5-DA20-CCB673E956BF}"/>
              </a:ext>
            </a:extLst>
          </p:cNvPr>
          <p:cNvSpPr>
            <a:spLocks noGrp="1"/>
          </p:cNvSpPr>
          <p:nvPr/>
        </p:nvSpPr>
        <p:spPr>
          <a:xfrm rot="5400000">
            <a:off x="900674" y="-66703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演示研究所 SlideLab.cc">
            <a:extLst>
              <a:ext uri="{FF2B5EF4-FFF2-40B4-BE49-F238E27FC236}">
                <a16:creationId xmlns:a16="http://schemas.microsoft.com/office/drawing/2014/main" id="{9BB40A81-5DC2-9566-89FC-35ACC06BD45C}"/>
              </a:ext>
            </a:extLst>
          </p:cNvPr>
          <p:cNvSpPr>
            <a:spLocks noGrp="1"/>
          </p:cNvSpPr>
          <p:nvPr/>
        </p:nvSpPr>
        <p:spPr>
          <a:xfrm rot="1023670">
            <a:off x="10242194" y="5547268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2C1217D6-85D1-3473-4DCD-AA018301B034}"/>
              </a:ext>
            </a:extLst>
          </p:cNvPr>
          <p:cNvSpPr>
            <a:spLocks noGrp="1"/>
          </p:cNvSpPr>
          <p:nvPr/>
        </p:nvSpPr>
        <p:spPr>
          <a:xfrm>
            <a:off x="5579305" y="1027814"/>
            <a:ext cx="4497756" cy="1077218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r>
              <a:rPr lang="zh-CN" altLang="zh-CN" sz="1600" b="1" dirty="0"/>
              <a:t>Frontend: React</a:t>
            </a:r>
          </a:p>
          <a:p>
            <a:r>
              <a:rPr lang="zh-CN" altLang="zh-CN" sz="1600" dirty="0"/>
              <a:t>Builds interfaces for different user roles </a:t>
            </a:r>
          </a:p>
          <a:p>
            <a:r>
              <a:rPr lang="zh-CN" altLang="zh-CN" sz="1600" dirty="0"/>
              <a:t>Supports reusable page components </a:t>
            </a:r>
          </a:p>
          <a:p>
            <a:r>
              <a:rPr lang="zh-CN" altLang="zh-CN" sz="1600" dirty="0"/>
              <a:t>Manages navigation and interactive states</a:t>
            </a: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F5C34F8F-F4F5-22D6-1CCE-DA4D5CEA3BD6}"/>
              </a:ext>
            </a:extLst>
          </p:cNvPr>
          <p:cNvSpPr>
            <a:spLocks noGrp="1"/>
          </p:cNvSpPr>
          <p:nvPr/>
        </p:nvSpPr>
        <p:spPr>
          <a:xfrm>
            <a:off x="5579305" y="2351782"/>
            <a:ext cx="6411259" cy="1077218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lvl1pPr>
              <a:lnSpc>
                <a:spcPct val="130000"/>
              </a:lnSpc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zh-CN" sz="1600" b="1" dirty="0">
                <a:solidFill>
                  <a:schemeClr val="accent1">
                    <a:lumMod val="75000"/>
                  </a:schemeClr>
                </a:solidFill>
              </a:rPr>
              <a:t>Backend: Node.js and Express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Provides REST APIs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Handles platform business logic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Supports authentication and access control</a:t>
            </a: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F5CD2CF8-1A19-968F-8CB3-A24AE6F30605}"/>
              </a:ext>
            </a:extLst>
          </p:cNvPr>
          <p:cNvSpPr>
            <a:spLocks noGrp="1"/>
          </p:cNvSpPr>
          <p:nvPr/>
        </p:nvSpPr>
        <p:spPr>
          <a:xfrm>
            <a:off x="5579305" y="3678828"/>
            <a:ext cx="4908784" cy="1077218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lvl1pPr>
              <a:lnSpc>
                <a:spcPct val="130000"/>
              </a:lnSpc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zh-CN" sz="1600" b="1" dirty="0">
                <a:solidFill>
                  <a:schemeClr val="tx1"/>
                </a:solidFill>
              </a:rPr>
              <a:t>Database: PostgreSQL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tx1"/>
                </a:solidFill>
              </a:rPr>
              <a:t>Stores users and roles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tx1"/>
                </a:solidFill>
              </a:rPr>
              <a:t>Stores courses and digital content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tx1"/>
                </a:solidFill>
              </a:rPr>
              <a:t>Manages orders, points, learning and refund records</a:t>
            </a: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5FAC4854-DF7C-33AE-0799-C9C7972AA069}"/>
              </a:ext>
            </a:extLst>
          </p:cNvPr>
          <p:cNvSpPr>
            <a:spLocks noGrp="1"/>
          </p:cNvSpPr>
          <p:nvPr/>
        </p:nvSpPr>
        <p:spPr>
          <a:xfrm>
            <a:off x="-256200" y="469913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9CDE6E-4230-3AF6-D36E-379A5F6D3800}"/>
              </a:ext>
            </a:extLst>
          </p:cNvPr>
          <p:cNvSpPr txBox="1"/>
          <p:nvPr/>
        </p:nvSpPr>
        <p:spPr>
          <a:xfrm>
            <a:off x="385682" y="1605528"/>
            <a:ext cx="4697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</a:rPr>
              <a:t>Proposed Technical Architecture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C6ED24A7-8036-F75A-72C4-36FB28854B5D}"/>
              </a:ext>
            </a:extLst>
          </p:cNvPr>
          <p:cNvSpPr>
            <a:spLocks noGrp="1"/>
          </p:cNvSpPr>
          <p:nvPr/>
        </p:nvSpPr>
        <p:spPr>
          <a:xfrm>
            <a:off x="5579305" y="5005874"/>
            <a:ext cx="4908784" cy="1077218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lvl1pPr>
              <a:lnSpc>
                <a:spcPct val="130000"/>
              </a:lnSpc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zh-CN" sz="1600" b="1" dirty="0">
                <a:solidFill>
                  <a:schemeClr val="accent1">
                    <a:lumMod val="75000"/>
                  </a:schemeClr>
                </a:solidFill>
              </a:rPr>
              <a:t>Payment Integration: Stripe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Supports external point top-ups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Provides hosted checkout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accent1">
                    <a:lumMod val="75000"/>
                  </a:schemeClr>
                </a:solidFill>
              </a:rPr>
              <a:t>Supports payment testing and verification</a:t>
            </a: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73607CDD-FC2B-6DB9-4F15-4A3FBEEAAEC1}"/>
              </a:ext>
            </a:extLst>
          </p:cNvPr>
          <p:cNvSpPr>
            <a:spLocks noGrp="1"/>
          </p:cNvSpPr>
          <p:nvPr/>
        </p:nvSpPr>
        <p:spPr>
          <a:xfrm>
            <a:off x="408311" y="2351255"/>
            <a:ext cx="4424946" cy="186618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E00209-B780-EF6E-F351-76C16B77D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84" y="2440558"/>
            <a:ext cx="42672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71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A6E0-71C0-3CD0-EFD4-D40C6D45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演示研究所 SlideLab.cc">
            <a:extLst>
              <a:ext uri="{FF2B5EF4-FFF2-40B4-BE49-F238E27FC236}">
                <a16:creationId xmlns:a16="http://schemas.microsoft.com/office/drawing/2014/main" id="{5C92F90C-1719-4CDF-9B87-874C0C3A9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62DE3FBA-3318-4DA2-8F48-A9D22A991A19}"/>
              </a:ext>
            </a:extLst>
          </p:cNvPr>
          <p:cNvSpPr>
            <a:spLocks noGrp="1"/>
          </p:cNvSpPr>
          <p:nvPr/>
        </p:nvSpPr>
        <p:spPr>
          <a:xfrm flipV="1">
            <a:off x="10898036" y="380191"/>
            <a:ext cx="898750" cy="681320"/>
          </a:xfrm>
          <a:custGeom>
            <a:avLst/>
            <a:gdLst/>
            <a:ahLst/>
            <a:cxnLst/>
            <a:rect l="l" t="t" r="r" b="b"/>
            <a:pathLst>
              <a:path w="1077550" h="816864">
                <a:moveTo>
                  <a:pt x="826831" y="0"/>
                </a:moveTo>
                <a:lnTo>
                  <a:pt x="0" y="816864"/>
                </a:lnTo>
                <a:lnTo>
                  <a:pt x="1077550" y="738221"/>
                </a:lnTo>
                <a:lnTo>
                  <a:pt x="847372" y="504151"/>
                </a:lnTo>
                <a:lnTo>
                  <a:pt x="826831" y="0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9EE143AB-7C54-76A7-5326-C8881C064789}"/>
              </a:ext>
            </a:extLst>
          </p:cNvPr>
          <p:cNvSpPr>
            <a:spLocks noGrp="1"/>
          </p:cNvSpPr>
          <p:nvPr/>
        </p:nvSpPr>
        <p:spPr>
          <a:xfrm rot="21316033" flipV="1">
            <a:off x="10908925" y="342458"/>
            <a:ext cx="940067" cy="442339"/>
          </a:xfrm>
          <a:custGeom>
            <a:avLst/>
            <a:gdLst/>
            <a:ahLst/>
            <a:cxnLst/>
            <a:rect l="l" t="t" r="r" b="b"/>
            <a:pathLst>
              <a:path w="1127086" h="530340">
                <a:moveTo>
                  <a:pt x="0" y="530341"/>
                </a:moveTo>
                <a:lnTo>
                  <a:pt x="1127086" y="129609"/>
                </a:lnTo>
                <a:lnTo>
                  <a:pt x="784637" y="0"/>
                </a:lnTo>
                <a:lnTo>
                  <a:pt x="0" y="530341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9986FA7E-7469-2F34-5C7D-E33DF6CC02EA}"/>
              </a:ext>
            </a:extLst>
          </p:cNvPr>
          <p:cNvSpPr>
            <a:spLocks noGrp="1"/>
          </p:cNvSpPr>
          <p:nvPr/>
        </p:nvSpPr>
        <p:spPr>
          <a:xfrm rot="5400000">
            <a:off x="900674" y="-66703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演示研究所 SlideLab.cc">
            <a:extLst>
              <a:ext uri="{FF2B5EF4-FFF2-40B4-BE49-F238E27FC236}">
                <a16:creationId xmlns:a16="http://schemas.microsoft.com/office/drawing/2014/main" id="{0790DC98-2436-8A21-B39C-0D6DDF13A6BF}"/>
              </a:ext>
            </a:extLst>
          </p:cNvPr>
          <p:cNvSpPr>
            <a:spLocks noGrp="1"/>
          </p:cNvSpPr>
          <p:nvPr/>
        </p:nvSpPr>
        <p:spPr>
          <a:xfrm rot="1023670">
            <a:off x="10242194" y="5547268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01BC03C5-2C2A-FC40-70FF-E525136D6A50}"/>
              </a:ext>
            </a:extLst>
          </p:cNvPr>
          <p:cNvSpPr>
            <a:spLocks noGrp="1"/>
          </p:cNvSpPr>
          <p:nvPr/>
        </p:nvSpPr>
        <p:spPr>
          <a:xfrm>
            <a:off x="5440378" y="1646939"/>
            <a:ext cx="4497756" cy="1077218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r>
              <a:rPr lang="zh-CN" altLang="zh-CN" sz="1600" b="1" dirty="0"/>
              <a:t>React</a:t>
            </a:r>
          </a:p>
          <a:p>
            <a:r>
              <a:rPr lang="zh-CN" altLang="zh-CN" sz="1600" dirty="0"/>
              <a:t>The team is already familiar with it. </a:t>
            </a:r>
          </a:p>
          <a:p>
            <a:r>
              <a:rPr lang="zh-CN" altLang="zh-CN" sz="1600" dirty="0"/>
              <a:t>It reduces additional learning time. </a:t>
            </a:r>
          </a:p>
          <a:p>
            <a:r>
              <a:rPr lang="zh-CN" altLang="zh-CN" sz="1600" dirty="0"/>
              <a:t>It supports reusable and consistent interfaces.</a:t>
            </a: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1595BA08-035C-C211-65D3-3FFD4CA0CD7F}"/>
              </a:ext>
            </a:extLst>
          </p:cNvPr>
          <p:cNvSpPr>
            <a:spLocks noGrp="1"/>
          </p:cNvSpPr>
          <p:nvPr/>
        </p:nvSpPr>
        <p:spPr>
          <a:xfrm>
            <a:off x="5440378" y="2970907"/>
            <a:ext cx="6411259" cy="1077218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lvl1pPr>
              <a:lnSpc>
                <a:spcPct val="130000"/>
              </a:lnSpc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zh-CN" sz="1600" b="1" dirty="0">
                <a:solidFill>
                  <a:srgbClr val="002060"/>
                </a:solidFill>
              </a:rPr>
              <a:t>Node.js and Express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rgbClr val="002060"/>
                </a:solidFill>
              </a:rPr>
              <a:t>JavaScript can be used for both frontend and backend.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rgbClr val="002060"/>
                </a:solidFill>
              </a:rPr>
              <a:t>It is suitable for developing web APIs.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rgbClr val="002060"/>
                </a:solidFill>
              </a:rPr>
              <a:t>It makes communication, maintenance and code review easier.</a:t>
            </a: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AC426122-BED7-35C0-DB71-51E470BFCCA3}"/>
              </a:ext>
            </a:extLst>
          </p:cNvPr>
          <p:cNvSpPr>
            <a:spLocks noGrp="1"/>
          </p:cNvSpPr>
          <p:nvPr/>
        </p:nvSpPr>
        <p:spPr>
          <a:xfrm>
            <a:off x="5440378" y="4297953"/>
            <a:ext cx="4908784" cy="1077218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lvl1pPr>
              <a:lnSpc>
                <a:spcPct val="130000"/>
              </a:lnSpc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zh-CN" sz="1600" b="1" dirty="0">
                <a:solidFill>
                  <a:schemeClr val="tx1"/>
                </a:solidFill>
              </a:rPr>
              <a:t>PostgreSQL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tx1"/>
                </a:solidFill>
              </a:rPr>
              <a:t>It is suitable for structured and connected data.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tx1"/>
                </a:solidFill>
              </a:rPr>
              <a:t>It can connect users, courses, orders and point records.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chemeClr val="tx1"/>
                </a:solidFill>
              </a:rPr>
              <a:t>It supports reliable queries and data consistency.</a:t>
            </a: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F115D2BC-F249-C2D2-515C-F690FB763C97}"/>
              </a:ext>
            </a:extLst>
          </p:cNvPr>
          <p:cNvSpPr>
            <a:spLocks noGrp="1"/>
          </p:cNvSpPr>
          <p:nvPr/>
        </p:nvSpPr>
        <p:spPr>
          <a:xfrm>
            <a:off x="-256200" y="469913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D8DE12-CDC4-EC6E-C2A4-443B797A5D13}"/>
              </a:ext>
            </a:extLst>
          </p:cNvPr>
          <p:cNvSpPr txBox="1"/>
          <p:nvPr/>
        </p:nvSpPr>
        <p:spPr>
          <a:xfrm>
            <a:off x="2930857" y="469913"/>
            <a:ext cx="599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/>
              <a:t>Why This Technology Stack Fits </a:t>
            </a:r>
            <a:r>
              <a:rPr lang="en-US" altLang="zh-CN" sz="2400" b="1" dirty="0" err="1"/>
              <a:t>CoLearnX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A318DFE5-6275-5528-B39C-BBABE54DF833}"/>
              </a:ext>
            </a:extLst>
          </p:cNvPr>
          <p:cNvSpPr>
            <a:spLocks noGrp="1"/>
          </p:cNvSpPr>
          <p:nvPr/>
        </p:nvSpPr>
        <p:spPr>
          <a:xfrm>
            <a:off x="5440378" y="5501889"/>
            <a:ext cx="4908784" cy="1323439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>
            <a:lvl1pPr>
              <a:lnSpc>
                <a:spcPct val="130000"/>
              </a:lnSpc>
              <a:buNone/>
              <a:defRPr sz="1200">
                <a:solidFill>
                  <a:schemeClr val="bg1">
                    <a:lumMod val="50000"/>
                  </a:schemeClr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zh-CN" sz="1600" b="1" dirty="0">
                <a:solidFill>
                  <a:srgbClr val="002060"/>
                </a:solidFill>
              </a:rPr>
              <a:t>Stripe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rgbClr val="002060"/>
                </a:solidFill>
              </a:rPr>
              <a:t>It provides clear documentation.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rgbClr val="002060"/>
                </a:solidFill>
              </a:rPr>
              <a:t>It supports secure hosted checkout. </a:t>
            </a:r>
          </a:p>
          <a:p>
            <a:pPr>
              <a:lnSpc>
                <a:spcPct val="100000"/>
              </a:lnSpc>
            </a:pPr>
            <a:r>
              <a:rPr lang="zh-CN" altLang="zh-CN" sz="1600" dirty="0">
                <a:solidFill>
                  <a:srgbClr val="002060"/>
                </a:solidFill>
              </a:rPr>
              <a:t>It offers a useful testing and payment verification environment.</a:t>
            </a: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16F60961-91A9-273C-667C-4F062D402E02}"/>
              </a:ext>
            </a:extLst>
          </p:cNvPr>
          <p:cNvSpPr>
            <a:spLocks noGrp="1"/>
          </p:cNvSpPr>
          <p:nvPr/>
        </p:nvSpPr>
        <p:spPr>
          <a:xfrm flipH="1">
            <a:off x="1514474" y="1025372"/>
            <a:ext cx="9525" cy="5832628"/>
          </a:xfrm>
          <a:prstGeom prst="line">
            <a:avLst/>
          </a:prstGeom>
          <a:ln>
            <a:solidFill>
              <a:srgbClr val="1D5C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78D2632F-693E-199D-0618-ECFDE38F3479}"/>
              </a:ext>
            </a:extLst>
          </p:cNvPr>
          <p:cNvSpPr>
            <a:spLocks noGrp="1"/>
          </p:cNvSpPr>
          <p:nvPr/>
        </p:nvSpPr>
        <p:spPr>
          <a:xfrm>
            <a:off x="1023204" y="1646939"/>
            <a:ext cx="967407" cy="967407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9737BA83-C1FB-1F31-E27B-467FD083EB27}"/>
              </a:ext>
            </a:extLst>
          </p:cNvPr>
          <p:cNvSpPr>
            <a:spLocks noGrp="1"/>
          </p:cNvSpPr>
          <p:nvPr/>
        </p:nvSpPr>
        <p:spPr>
          <a:xfrm>
            <a:off x="1049707" y="4236879"/>
            <a:ext cx="967407" cy="967407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演示研究所 SlideLab.cc">
            <a:extLst>
              <a:ext uri="{FF2B5EF4-FFF2-40B4-BE49-F238E27FC236}">
                <a16:creationId xmlns:a16="http://schemas.microsoft.com/office/drawing/2014/main" id="{731D7BEC-D7D1-4075-40FD-287AB5C99C5A}"/>
              </a:ext>
            </a:extLst>
          </p:cNvPr>
          <p:cNvSpPr>
            <a:spLocks noGrp="1"/>
          </p:cNvSpPr>
          <p:nvPr/>
        </p:nvSpPr>
        <p:spPr>
          <a:xfrm>
            <a:off x="1028568" y="2941909"/>
            <a:ext cx="967407" cy="967407"/>
          </a:xfrm>
          <a:prstGeom prst="ellipse">
            <a:avLst/>
          </a:prstGeom>
          <a:solidFill>
            <a:srgbClr val="148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1" name="演示研究所 SlideLab.cc">
            <a:extLst>
              <a:ext uri="{FF2B5EF4-FFF2-40B4-BE49-F238E27FC236}">
                <a16:creationId xmlns:a16="http://schemas.microsoft.com/office/drawing/2014/main" id="{8D940118-4342-5A89-4A5C-4C9F0E8BA476}"/>
              </a:ext>
            </a:extLst>
          </p:cNvPr>
          <p:cNvSpPr>
            <a:spLocks noGrp="1"/>
          </p:cNvSpPr>
          <p:nvPr/>
        </p:nvSpPr>
        <p:spPr>
          <a:xfrm>
            <a:off x="2328344" y="1845664"/>
            <a:ext cx="2538392" cy="58477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defRPr sz="3200" b="1">
                <a:solidFill>
                  <a:srgbClr val="485660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3200" b="1" dirty="0"/>
              <a:t>React</a:t>
            </a:r>
            <a:endParaRPr sz="3200" b="1" dirty="0">
              <a:solidFill>
                <a:srgbClr val="4856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演示研究所 SlideLab.cc">
            <a:extLst>
              <a:ext uri="{FF2B5EF4-FFF2-40B4-BE49-F238E27FC236}">
                <a16:creationId xmlns:a16="http://schemas.microsoft.com/office/drawing/2014/main" id="{0F857553-6CE2-7412-DCD9-B7867AE87821}"/>
              </a:ext>
            </a:extLst>
          </p:cNvPr>
          <p:cNvSpPr>
            <a:spLocks noGrp="1"/>
          </p:cNvSpPr>
          <p:nvPr/>
        </p:nvSpPr>
        <p:spPr>
          <a:xfrm>
            <a:off x="2328344" y="2934609"/>
            <a:ext cx="2538392" cy="1066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defRPr sz="3200" b="1">
                <a:solidFill>
                  <a:srgbClr val="485660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3200" b="1" dirty="0"/>
              <a:t>Node.js and Express</a:t>
            </a:r>
            <a:endParaRPr sz="3200" b="1" dirty="0">
              <a:solidFill>
                <a:srgbClr val="4856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演示研究所 SlideLab.cc">
            <a:extLst>
              <a:ext uri="{FF2B5EF4-FFF2-40B4-BE49-F238E27FC236}">
                <a16:creationId xmlns:a16="http://schemas.microsoft.com/office/drawing/2014/main" id="{F06A0E5E-9A7C-0EFA-6F81-0B6D2B6C392D}"/>
              </a:ext>
            </a:extLst>
          </p:cNvPr>
          <p:cNvSpPr>
            <a:spLocks noGrp="1"/>
          </p:cNvSpPr>
          <p:nvPr/>
        </p:nvSpPr>
        <p:spPr>
          <a:xfrm>
            <a:off x="2328344" y="4488285"/>
            <a:ext cx="2538392" cy="58477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defRPr sz="3200" b="1">
                <a:solidFill>
                  <a:srgbClr val="485660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3200" b="1" dirty="0"/>
              <a:t>PostgreSQL</a:t>
            </a:r>
            <a:endParaRPr sz="3200" b="1" dirty="0">
              <a:solidFill>
                <a:srgbClr val="4856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FD41452D-64F8-79E5-5B14-47BE9B093DEA}"/>
              </a:ext>
            </a:extLst>
          </p:cNvPr>
          <p:cNvSpPr>
            <a:spLocks noGrp="1"/>
          </p:cNvSpPr>
          <p:nvPr/>
        </p:nvSpPr>
        <p:spPr>
          <a:xfrm>
            <a:off x="1030770" y="5531849"/>
            <a:ext cx="967407" cy="967407"/>
          </a:xfrm>
          <a:prstGeom prst="ellipse">
            <a:avLst/>
          </a:prstGeom>
          <a:solidFill>
            <a:srgbClr val="148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41" name="演示研究所 SlideLab.cc">
            <a:extLst>
              <a:ext uri="{FF2B5EF4-FFF2-40B4-BE49-F238E27FC236}">
                <a16:creationId xmlns:a16="http://schemas.microsoft.com/office/drawing/2014/main" id="{CCC8E50F-528C-B7DE-D813-F71DC9B81260}"/>
              </a:ext>
            </a:extLst>
          </p:cNvPr>
          <p:cNvSpPr>
            <a:spLocks noGrp="1"/>
          </p:cNvSpPr>
          <p:nvPr/>
        </p:nvSpPr>
        <p:spPr>
          <a:xfrm>
            <a:off x="2328344" y="5809596"/>
            <a:ext cx="2538392" cy="58477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defRPr sz="3200" b="1">
                <a:solidFill>
                  <a:srgbClr val="485660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3200" b="1" dirty="0"/>
              <a:t>Stripe</a:t>
            </a:r>
            <a:endParaRPr sz="3200" b="1" dirty="0">
              <a:solidFill>
                <a:srgbClr val="48566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3924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7901D-2960-1C0E-863C-3BCE3D285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>
            <a:extLst>
              <a:ext uri="{FF2B5EF4-FFF2-40B4-BE49-F238E27FC236}">
                <a16:creationId xmlns:a16="http://schemas.microsoft.com/office/drawing/2014/main" id="{6C9CCB1B-BFCC-3C08-A7BB-89BD7D556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B55DD1F9-F114-7C89-5FC3-04CE2421A053}"/>
              </a:ext>
            </a:extLst>
          </p:cNvPr>
          <p:cNvSpPr>
            <a:spLocks noGrp="1"/>
          </p:cNvSpPr>
          <p:nvPr/>
        </p:nvSpPr>
        <p:spPr>
          <a:xfrm rot="1023670">
            <a:off x="-938152" y="5191720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7301F021-0562-560C-D024-324F6CACD31F}"/>
              </a:ext>
            </a:extLst>
          </p:cNvPr>
          <p:cNvSpPr>
            <a:spLocks noGrp="1"/>
          </p:cNvSpPr>
          <p:nvPr/>
        </p:nvSpPr>
        <p:spPr>
          <a:xfrm>
            <a:off x="6279533" y="3268721"/>
            <a:ext cx="4768276" cy="271036"/>
          </a:xfrm>
          <a:prstGeom prst="roundRect">
            <a:avLst>
              <a:gd name="adj" fmla="val 50000"/>
            </a:avLst>
          </a:prstGeom>
          <a:solidFill>
            <a:srgbClr val="E8D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C3E07D9F-E9B9-EFCD-92FC-891B7AFE0F0E}"/>
              </a:ext>
            </a:extLst>
          </p:cNvPr>
          <p:cNvSpPr>
            <a:spLocks noGrp="1"/>
          </p:cNvSpPr>
          <p:nvPr/>
        </p:nvSpPr>
        <p:spPr>
          <a:xfrm>
            <a:off x="5000134" y="1965178"/>
            <a:ext cx="7327073" cy="156966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400" b="1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4800" b="1" dirty="0"/>
              <a:t>User Purchase &amp; Learning Experience</a:t>
            </a:r>
            <a:endParaRPr lang="en-US" altLang="zh-CN" sz="4800" b="1" dirty="0">
              <a:solidFill>
                <a:srgbClr val="5361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E71DB102-F20B-8BDF-5BED-008BDA39EF03}"/>
              </a:ext>
            </a:extLst>
          </p:cNvPr>
          <p:cNvSpPr>
            <a:spLocks noGrp="1"/>
          </p:cNvSpPr>
          <p:nvPr/>
        </p:nvSpPr>
        <p:spPr>
          <a:xfrm>
            <a:off x="2724245" y="1809375"/>
            <a:ext cx="2275889" cy="2275889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20B2ECA7-5E56-0787-24AA-B6CC454F30E7}"/>
              </a:ext>
            </a:extLst>
          </p:cNvPr>
          <p:cNvSpPr>
            <a:spLocks noGrp="1"/>
          </p:cNvSpPr>
          <p:nvPr/>
        </p:nvSpPr>
        <p:spPr>
          <a:xfrm>
            <a:off x="2098366" y="1961606"/>
            <a:ext cx="3541468" cy="186204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1500" b="1">
                <a:solidFill>
                  <a:srgbClr val="D8E3E6"/>
                </a:solidFill>
                <a:latin typeface="Arial"/>
                <a:ea typeface="Arial"/>
                <a:cs typeface="Arial"/>
              </a:defRPr>
            </a:pPr>
            <a:r>
              <a:rPr sz="1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sz="115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F180B74E-3205-4CFA-3D67-31CF28E3F9CE}"/>
              </a:ext>
            </a:extLst>
          </p:cNvPr>
          <p:cNvSpPr>
            <a:spLocks noGrp="1"/>
          </p:cNvSpPr>
          <p:nvPr/>
        </p:nvSpPr>
        <p:spPr>
          <a:xfrm rot="1023670">
            <a:off x="10327292" y="5591742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148A8B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03FD3039-0D46-EEE0-765E-B210E974C5D8}"/>
              </a:ext>
            </a:extLst>
          </p:cNvPr>
          <p:cNvSpPr>
            <a:spLocks noGrp="1"/>
          </p:cNvSpPr>
          <p:nvPr/>
        </p:nvSpPr>
        <p:spPr>
          <a:xfrm rot="5400000">
            <a:off x="840372" y="-49269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8B5B2153-6188-96D4-6FD4-3DE0F16CFD17}"/>
              </a:ext>
            </a:extLst>
          </p:cNvPr>
          <p:cNvSpPr>
            <a:spLocks noGrp="1"/>
          </p:cNvSpPr>
          <p:nvPr/>
        </p:nvSpPr>
        <p:spPr>
          <a:xfrm>
            <a:off x="11897" y="645749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5458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演示研究所 SlideLab.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DC7B7934-34FB-4034-9F5E-2D8C4A93863F}"/>
              </a:ext>
            </a:extLst>
          </p:cNvPr>
          <p:cNvSpPr>
            <a:spLocks noGrp="1"/>
          </p:cNvSpPr>
          <p:nvPr/>
        </p:nvSpPr>
        <p:spPr>
          <a:xfrm rot="5400000">
            <a:off x="900674" y="-66703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演示研究所 SlideLab.cc">
            <a:extLst>
              <a:ext uri="{FF2B5EF4-FFF2-40B4-BE49-F238E27FC236}">
                <a16:creationId xmlns:a16="http://schemas.microsoft.com/office/drawing/2014/main" id="{8A3CCFB2-98C3-4422-9529-402B088107B8}"/>
              </a:ext>
            </a:extLst>
          </p:cNvPr>
          <p:cNvSpPr>
            <a:spLocks noGrp="1"/>
          </p:cNvSpPr>
          <p:nvPr/>
        </p:nvSpPr>
        <p:spPr>
          <a:xfrm rot="1023670">
            <a:off x="10242194" y="5547268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07815FD9-3699-D422-DAB7-6D7123D80C6A}"/>
              </a:ext>
            </a:extLst>
          </p:cNvPr>
          <p:cNvSpPr>
            <a:spLocks noGrp="1"/>
          </p:cNvSpPr>
          <p:nvPr/>
        </p:nvSpPr>
        <p:spPr>
          <a:xfrm>
            <a:off x="-256200" y="469913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流程图: 终止 6">
            <a:extLst>
              <a:ext uri="{FF2B5EF4-FFF2-40B4-BE49-F238E27FC236}">
                <a16:creationId xmlns:a16="http://schemas.microsoft.com/office/drawing/2014/main" id="{B2D286B0-19F0-1B6D-0302-89337435CEB4}"/>
              </a:ext>
            </a:extLst>
          </p:cNvPr>
          <p:cNvSpPr/>
          <p:nvPr/>
        </p:nvSpPr>
        <p:spPr>
          <a:xfrm>
            <a:off x="410865" y="1395023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Browse Courses and Content</a:t>
            </a:r>
            <a:endParaRPr lang="zh-CN" altLang="en-US" dirty="0"/>
          </a:p>
        </p:txBody>
      </p:sp>
      <p:sp>
        <p:nvSpPr>
          <p:cNvPr id="10" name="流程图: 终止 9">
            <a:extLst>
              <a:ext uri="{FF2B5EF4-FFF2-40B4-BE49-F238E27FC236}">
                <a16:creationId xmlns:a16="http://schemas.microsoft.com/office/drawing/2014/main" id="{C9C07DEF-42A8-94B4-E9B5-C12813253644}"/>
              </a:ext>
            </a:extLst>
          </p:cNvPr>
          <p:cNvSpPr/>
          <p:nvPr/>
        </p:nvSpPr>
        <p:spPr>
          <a:xfrm>
            <a:off x="410865" y="2234268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View Course Information</a:t>
            </a:r>
            <a:endParaRPr lang="zh-CN" altLang="en-US" dirty="0"/>
          </a:p>
        </p:txBody>
      </p:sp>
      <p:sp>
        <p:nvSpPr>
          <p:cNvPr id="21" name="流程图: 终止 20">
            <a:extLst>
              <a:ext uri="{FF2B5EF4-FFF2-40B4-BE49-F238E27FC236}">
                <a16:creationId xmlns:a16="http://schemas.microsoft.com/office/drawing/2014/main" id="{1F84A4F0-9DA1-CC21-E19D-976147C73B8B}"/>
              </a:ext>
            </a:extLst>
          </p:cNvPr>
          <p:cNvSpPr/>
          <p:nvPr/>
        </p:nvSpPr>
        <p:spPr>
          <a:xfrm>
            <a:off x="410865" y="3140688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Add to Cart</a:t>
            </a:r>
            <a:endParaRPr lang="zh-CN" altLang="en-US" dirty="0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21487F53-C1BB-2CC1-E799-8B4988BA8BC7}"/>
              </a:ext>
            </a:extLst>
          </p:cNvPr>
          <p:cNvSpPr/>
          <p:nvPr/>
        </p:nvSpPr>
        <p:spPr>
          <a:xfrm rot="5400000">
            <a:off x="891516" y="2795663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B41E02D3-834B-211F-053E-FFFEDEA5C1A8}"/>
              </a:ext>
            </a:extLst>
          </p:cNvPr>
          <p:cNvSpPr/>
          <p:nvPr/>
        </p:nvSpPr>
        <p:spPr>
          <a:xfrm rot="5400000">
            <a:off x="2298988" y="1941277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2EC78ED4-5D09-A6A0-1ED7-06CBCFB65129}"/>
              </a:ext>
            </a:extLst>
          </p:cNvPr>
          <p:cNvSpPr/>
          <p:nvPr/>
        </p:nvSpPr>
        <p:spPr>
          <a:xfrm rot="5400000">
            <a:off x="2298988" y="3701492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流程图: 终止 41">
            <a:extLst>
              <a:ext uri="{FF2B5EF4-FFF2-40B4-BE49-F238E27FC236}">
                <a16:creationId xmlns:a16="http://schemas.microsoft.com/office/drawing/2014/main" id="{57CAA058-5005-E9C7-6742-2505F2F691D5}"/>
              </a:ext>
            </a:extLst>
          </p:cNvPr>
          <p:cNvSpPr/>
          <p:nvPr/>
        </p:nvSpPr>
        <p:spPr>
          <a:xfrm>
            <a:off x="410042" y="4046517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Complete Point Payment</a:t>
            </a:r>
            <a:endParaRPr lang="zh-CN" altLang="en-US" dirty="0"/>
          </a:p>
        </p:txBody>
      </p:sp>
      <p:sp>
        <p:nvSpPr>
          <p:cNvPr id="44" name="流程图: 终止 43">
            <a:extLst>
              <a:ext uri="{FF2B5EF4-FFF2-40B4-BE49-F238E27FC236}">
                <a16:creationId xmlns:a16="http://schemas.microsoft.com/office/drawing/2014/main" id="{14C0A0CA-B852-DD1D-DE5A-D1466896CAB1}"/>
              </a:ext>
            </a:extLst>
          </p:cNvPr>
          <p:cNvSpPr/>
          <p:nvPr/>
        </p:nvSpPr>
        <p:spPr>
          <a:xfrm>
            <a:off x="410042" y="4885762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Access My Courses</a:t>
            </a:r>
            <a:endParaRPr lang="zh-CN" altLang="en-US" dirty="0"/>
          </a:p>
        </p:txBody>
      </p:sp>
      <p:sp>
        <p:nvSpPr>
          <p:cNvPr id="46" name="流程图: 终止 45">
            <a:extLst>
              <a:ext uri="{FF2B5EF4-FFF2-40B4-BE49-F238E27FC236}">
                <a16:creationId xmlns:a16="http://schemas.microsoft.com/office/drawing/2014/main" id="{CF8CC8DA-7256-FB1F-BF9F-68689308CA59}"/>
              </a:ext>
            </a:extLst>
          </p:cNvPr>
          <p:cNvSpPr/>
          <p:nvPr/>
        </p:nvSpPr>
        <p:spPr>
          <a:xfrm>
            <a:off x="410042" y="5792182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/>
              <a:t>Manage Learning Status</a:t>
            </a:r>
            <a:endParaRPr lang="zh-CN" altLang="en-US"/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349DC5FB-23CE-E894-786C-DF660D03A1A4}"/>
              </a:ext>
            </a:extLst>
          </p:cNvPr>
          <p:cNvSpPr/>
          <p:nvPr/>
        </p:nvSpPr>
        <p:spPr>
          <a:xfrm rot="5400000">
            <a:off x="2334567" y="5461949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2221918C-4118-7021-7E70-4EF85C2023AC}"/>
              </a:ext>
            </a:extLst>
          </p:cNvPr>
          <p:cNvSpPr/>
          <p:nvPr/>
        </p:nvSpPr>
        <p:spPr>
          <a:xfrm rot="5400000">
            <a:off x="890693" y="4602244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B37A0DB8-37BA-3A4C-8AB2-E9863D7D0C26}"/>
              </a:ext>
            </a:extLst>
          </p:cNvPr>
          <p:cNvSpPr>
            <a:spLocks noGrp="1"/>
          </p:cNvSpPr>
          <p:nvPr/>
        </p:nvSpPr>
        <p:spPr>
          <a:xfrm>
            <a:off x="3708099" y="1123950"/>
            <a:ext cx="7153275" cy="5338129"/>
          </a:xfrm>
          <a:custGeom>
            <a:avLst/>
            <a:gdLst/>
            <a:ahLst/>
            <a:cxnLst/>
            <a:rect l="l" t="t" r="r" b="b"/>
            <a:pathLst>
              <a:path w="9093200" h="4876800">
                <a:moveTo>
                  <a:pt x="381024" y="0"/>
                </a:moveTo>
                <a:lnTo>
                  <a:pt x="8712176" y="0"/>
                </a:lnTo>
                <a:cubicBezTo>
                  <a:pt x="8922610" y="0"/>
                  <a:pt x="9093200" y="170590"/>
                  <a:pt x="9093200" y="381024"/>
                </a:cubicBezTo>
                <a:lnTo>
                  <a:pt x="9093200" y="2039630"/>
                </a:lnTo>
                <a:lnTo>
                  <a:pt x="9080500" y="2038350"/>
                </a:lnTo>
                <a:cubicBezTo>
                  <a:pt x="8859558" y="2038350"/>
                  <a:pt x="8680450" y="2217458"/>
                  <a:pt x="8680450" y="2438400"/>
                </a:cubicBezTo>
                <a:cubicBezTo>
                  <a:pt x="8680450" y="2659342"/>
                  <a:pt x="8859558" y="2838450"/>
                  <a:pt x="9080500" y="2838450"/>
                </a:cubicBezTo>
                <a:lnTo>
                  <a:pt x="9093200" y="2837170"/>
                </a:lnTo>
                <a:lnTo>
                  <a:pt x="9093200" y="4495776"/>
                </a:lnTo>
                <a:cubicBezTo>
                  <a:pt x="9093200" y="4706210"/>
                  <a:pt x="8922610" y="4876800"/>
                  <a:pt x="8712176" y="4876800"/>
                </a:cubicBezTo>
                <a:lnTo>
                  <a:pt x="381024" y="4876800"/>
                </a:lnTo>
                <a:cubicBezTo>
                  <a:pt x="170590" y="4876800"/>
                  <a:pt x="0" y="4706210"/>
                  <a:pt x="0" y="4495776"/>
                </a:cubicBezTo>
                <a:lnTo>
                  <a:pt x="0" y="2838450"/>
                </a:lnTo>
                <a:cubicBezTo>
                  <a:pt x="220942" y="2838450"/>
                  <a:pt x="400050" y="2659342"/>
                  <a:pt x="400050" y="2438400"/>
                </a:cubicBezTo>
                <a:cubicBezTo>
                  <a:pt x="400050" y="2217458"/>
                  <a:pt x="220942" y="2038350"/>
                  <a:pt x="0" y="2038350"/>
                </a:cubicBezTo>
                <a:lnTo>
                  <a:pt x="0" y="381024"/>
                </a:lnTo>
                <a:cubicBezTo>
                  <a:pt x="0" y="170590"/>
                  <a:pt x="170590" y="0"/>
                  <a:pt x="3810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76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5958C19B-A95E-1044-9D69-8A72895FD72D}"/>
              </a:ext>
            </a:extLst>
          </p:cNvPr>
          <p:cNvSpPr>
            <a:spLocks noGrp="1"/>
          </p:cNvSpPr>
          <p:nvPr/>
        </p:nvSpPr>
        <p:spPr>
          <a:xfrm>
            <a:off x="4714454" y="1199100"/>
            <a:ext cx="5445278" cy="526297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zh-CN" altLang="zh-CN" sz="1400" b="1" dirty="0"/>
              <a:t>Course Discovery</a:t>
            </a:r>
          </a:p>
          <a:p>
            <a:r>
              <a:rPr lang="zh-CN" altLang="zh-CN" sz="1400" dirty="0"/>
              <a:t>Browse courses and digital learning content </a:t>
            </a:r>
          </a:p>
          <a:p>
            <a:r>
              <a:rPr lang="zh-CN" altLang="zh-CN" sz="1400" dirty="0"/>
              <a:t>Explore online and offline options </a:t>
            </a:r>
          </a:p>
          <a:p>
            <a:r>
              <a:rPr lang="zh-CN" altLang="zh-CN" sz="1400" dirty="0"/>
              <a:t>Compare trainers, prices and schedules </a:t>
            </a:r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b="1" dirty="0">
                <a:solidFill>
                  <a:schemeClr val="accent2">
                    <a:lumMod val="75000"/>
                  </a:schemeClr>
                </a:solidFill>
              </a:rPr>
              <a:t>Purchase Decision</a:t>
            </a:r>
          </a:p>
          <a:p>
            <a:r>
              <a:rPr lang="zh-CN" altLang="zh-CN" sz="1400" dirty="0">
                <a:solidFill>
                  <a:schemeClr val="accent2">
                    <a:lumMod val="75000"/>
                  </a:schemeClr>
                </a:solidFill>
              </a:rPr>
              <a:t>Check course duration and delivery format </a:t>
            </a:r>
          </a:p>
          <a:p>
            <a:r>
              <a:rPr lang="zh-CN" altLang="zh-CN" sz="1400" dirty="0">
                <a:solidFill>
                  <a:schemeClr val="accent2">
                    <a:lumMod val="75000"/>
                  </a:schemeClr>
                </a:solidFill>
              </a:rPr>
              <a:t>Review course modules and replay availability </a:t>
            </a:r>
          </a:p>
          <a:p>
            <a:r>
              <a:rPr lang="zh-CN" altLang="zh-CN" sz="1400" dirty="0">
                <a:solidFill>
                  <a:schemeClr val="accent2">
                    <a:lumMod val="75000"/>
                  </a:schemeClr>
                </a:solidFill>
              </a:rPr>
              <a:t>Understand refund conditions before purchasing 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zh-CN" altLang="zh-CN" sz="1400" dirty="0"/>
          </a:p>
          <a:p>
            <a:r>
              <a:rPr lang="zh-CN" altLang="zh-CN" sz="1400" b="1" dirty="0"/>
              <a:t>Cart and Payment</a:t>
            </a:r>
          </a:p>
          <a:p>
            <a:r>
              <a:rPr lang="zh-CN" altLang="zh-CN" sz="1400" dirty="0"/>
              <a:t>Add multiple items to the shopping cart </a:t>
            </a:r>
          </a:p>
          <a:p>
            <a:r>
              <a:rPr lang="zh-CN" altLang="zh-CN" sz="1400" dirty="0"/>
              <a:t>Check point balance and order total </a:t>
            </a:r>
          </a:p>
          <a:p>
            <a:r>
              <a:rPr lang="zh-CN" altLang="zh-CN" sz="1400" dirty="0"/>
              <a:t>Complete purchases using unified points </a:t>
            </a:r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b="1" dirty="0">
                <a:solidFill>
                  <a:schemeClr val="accent2">
                    <a:lumMod val="75000"/>
                  </a:schemeClr>
                </a:solidFill>
              </a:rPr>
              <a:t>Learning Management</a:t>
            </a:r>
          </a:p>
          <a:p>
            <a:r>
              <a:rPr lang="zh-CN" altLang="zh-CN" sz="1400" dirty="0">
                <a:solidFill>
                  <a:schemeClr val="accent2">
                    <a:lumMod val="75000"/>
                  </a:schemeClr>
                </a:solidFill>
              </a:rPr>
              <a:t>Access purchased courses in My Courses </a:t>
            </a:r>
          </a:p>
          <a:p>
            <a:r>
              <a:rPr lang="zh-CN" altLang="zh-CN" sz="1400" dirty="0">
                <a:solidFill>
                  <a:schemeClr val="accent2">
                    <a:lumMod val="75000"/>
                  </a:schemeClr>
                </a:solidFill>
              </a:rPr>
              <a:t>Check course status and watch time </a:t>
            </a:r>
          </a:p>
          <a:p>
            <a:r>
              <a:rPr lang="zh-CN" altLang="zh-CN" sz="1400" dirty="0">
                <a:solidFill>
                  <a:schemeClr val="accent2">
                    <a:lumMod val="75000"/>
                  </a:schemeClr>
                </a:solidFill>
              </a:rPr>
              <a:t>Manage purchase records and refund eligibility 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zh-CN" altLang="zh-CN" sz="1400" dirty="0"/>
          </a:p>
          <a:p>
            <a:r>
              <a:rPr lang="zh-CN" altLang="zh-CN" sz="1400" b="1" dirty="0"/>
              <a:t>Bottom Summary</a:t>
            </a:r>
          </a:p>
          <a:p>
            <a:r>
              <a:rPr lang="zh-CN" altLang="zh-CN" sz="1400" dirty="0"/>
              <a:t>neXt connects course discovery, point-based purchasing and learning management in one complete user journey.</a:t>
            </a:r>
          </a:p>
          <a:p>
            <a:pPr marL="0" algn="l">
              <a:defRPr sz="14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endParaRPr sz="1400" dirty="0">
              <a:solidFill>
                <a:srgbClr val="5361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BE3D3ED-18F0-C0B9-F089-259D72B06678}"/>
              </a:ext>
            </a:extLst>
          </p:cNvPr>
          <p:cNvSpPr txBox="1"/>
          <p:nvPr/>
        </p:nvSpPr>
        <p:spPr>
          <a:xfrm>
            <a:off x="3933825" y="407917"/>
            <a:ext cx="5378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solidFill>
                  <a:schemeClr val="accent2">
                    <a:lumMod val="75000"/>
                  </a:schemeClr>
                </a:solidFill>
              </a:rPr>
              <a:t>User Purchase &amp; Learning Experience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演示研究所 SlideLab.cc">
            <a:extLst>
              <a:ext uri="{FF2B5EF4-FFF2-40B4-BE49-F238E27FC236}">
                <a16:creationId xmlns:a16="http://schemas.microsoft.com/office/drawing/2014/main" id="{A8E79F5A-4FC5-4DE2-EBCE-46349AB8CB6D}"/>
              </a:ext>
            </a:extLst>
          </p:cNvPr>
          <p:cNvSpPr>
            <a:spLocks noGrp="1"/>
          </p:cNvSpPr>
          <p:nvPr/>
        </p:nvSpPr>
        <p:spPr>
          <a:xfrm flipV="1">
            <a:off x="10898036" y="380191"/>
            <a:ext cx="898750" cy="681320"/>
          </a:xfrm>
          <a:custGeom>
            <a:avLst/>
            <a:gdLst/>
            <a:ahLst/>
            <a:cxnLst/>
            <a:rect l="l" t="t" r="r" b="b"/>
            <a:pathLst>
              <a:path w="1077550" h="816864">
                <a:moveTo>
                  <a:pt x="826831" y="0"/>
                </a:moveTo>
                <a:lnTo>
                  <a:pt x="0" y="816864"/>
                </a:lnTo>
                <a:lnTo>
                  <a:pt x="1077550" y="738221"/>
                </a:lnTo>
                <a:lnTo>
                  <a:pt x="847372" y="504151"/>
                </a:lnTo>
                <a:lnTo>
                  <a:pt x="826831" y="0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7" name="演示研究所 SlideLab.cc">
            <a:extLst>
              <a:ext uri="{FF2B5EF4-FFF2-40B4-BE49-F238E27FC236}">
                <a16:creationId xmlns:a16="http://schemas.microsoft.com/office/drawing/2014/main" id="{0BED75A9-9E7B-338F-9778-7CCEDB34509A}"/>
              </a:ext>
            </a:extLst>
          </p:cNvPr>
          <p:cNvSpPr>
            <a:spLocks noGrp="1"/>
          </p:cNvSpPr>
          <p:nvPr/>
        </p:nvSpPr>
        <p:spPr>
          <a:xfrm rot="21316033" flipV="1">
            <a:off x="10908925" y="342458"/>
            <a:ext cx="940067" cy="442339"/>
          </a:xfrm>
          <a:custGeom>
            <a:avLst/>
            <a:gdLst/>
            <a:ahLst/>
            <a:cxnLst/>
            <a:rect l="l" t="t" r="r" b="b"/>
            <a:pathLst>
              <a:path w="1127086" h="530340">
                <a:moveTo>
                  <a:pt x="0" y="530341"/>
                </a:moveTo>
                <a:lnTo>
                  <a:pt x="1127086" y="129609"/>
                </a:lnTo>
                <a:lnTo>
                  <a:pt x="784637" y="0"/>
                </a:lnTo>
                <a:lnTo>
                  <a:pt x="0" y="530341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5464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演示研究所 SlideLab.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80C90149-9D9B-4F83-B7E5-045F67C6C2AD}"/>
              </a:ext>
            </a:extLst>
          </p:cNvPr>
          <p:cNvSpPr>
            <a:spLocks noGrp="1"/>
          </p:cNvSpPr>
          <p:nvPr/>
        </p:nvSpPr>
        <p:spPr>
          <a:xfrm rot="5400000">
            <a:off x="900674" y="-66703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7691ED1A-8C55-4C5E-B242-64BB9A35E068}"/>
              </a:ext>
            </a:extLst>
          </p:cNvPr>
          <p:cNvSpPr>
            <a:spLocks noGrp="1"/>
          </p:cNvSpPr>
          <p:nvPr/>
        </p:nvSpPr>
        <p:spPr>
          <a:xfrm rot="1023670">
            <a:off x="10242194" y="5547268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A4F6ADEE-DAB0-3A45-8CEC-F7586C6D1212}"/>
              </a:ext>
            </a:extLst>
          </p:cNvPr>
          <p:cNvSpPr>
            <a:spLocks noGrp="1"/>
          </p:cNvSpPr>
          <p:nvPr/>
        </p:nvSpPr>
        <p:spPr>
          <a:xfrm>
            <a:off x="939602" y="1309529"/>
            <a:ext cx="3838649" cy="368047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wrap="none" lIns="90011" tIns="46768" rIns="90011" bIns="46768" anchor="ctr">
            <a:normAutofit/>
          </a:bodyPr>
          <a:lstStyle>
            <a:lvl1pPr marL="0" algn="l">
              <a:buNone/>
              <a:defRPr sz="1800">
                <a:solidFill>
                  <a:schemeClr val="tx1"/>
                </a:solidFill>
              </a:defRPr>
            </a:lvl1pPr>
            <a:lvl2pPr marL="457189" algn="l">
              <a:buNone/>
              <a:defRPr sz="1800">
                <a:solidFill>
                  <a:schemeClr val="tx1"/>
                </a:solidFill>
              </a:defRPr>
            </a:lvl2pPr>
            <a:lvl3pPr marL="914377" algn="l">
              <a:buNone/>
              <a:defRPr sz="1800">
                <a:solidFill>
                  <a:schemeClr val="tx1"/>
                </a:solidFill>
              </a:defRPr>
            </a:lvl3pPr>
            <a:lvl4pPr marL="1371566" algn="l">
              <a:buNone/>
              <a:defRPr sz="1800">
                <a:solidFill>
                  <a:schemeClr val="tx1"/>
                </a:solidFill>
              </a:defRPr>
            </a:lvl4pPr>
            <a:lvl5pPr marL="1828754" algn="l">
              <a:buNone/>
              <a:defRPr sz="1800">
                <a:solidFill>
                  <a:schemeClr val="tx1"/>
                </a:solidFill>
              </a:defRPr>
            </a:lvl5pPr>
            <a:lvl6pPr marL="2285943" algn="l">
              <a:buNone/>
              <a:defRPr sz="1800">
                <a:solidFill>
                  <a:schemeClr val="tx1"/>
                </a:solidFill>
              </a:defRPr>
            </a:lvl6pPr>
            <a:lvl7pPr marL="2743131" algn="l">
              <a:buNone/>
              <a:defRPr sz="1800">
                <a:solidFill>
                  <a:schemeClr val="tx1"/>
                </a:solidFill>
              </a:defRPr>
            </a:lvl7pPr>
            <a:lvl8pPr marL="3200320" algn="l">
              <a:buNone/>
              <a:defRPr sz="1800">
                <a:solidFill>
                  <a:schemeClr val="tx1"/>
                </a:solidFill>
              </a:defRPr>
            </a:lvl8pPr>
            <a:lvl9pPr marL="3657509" algn="l">
              <a:buNone/>
              <a:defRPr sz="1800">
                <a:solidFill>
                  <a:schemeClr val="tx1"/>
                </a:solidFill>
              </a:defRPr>
            </a:lvl9pPr>
          </a:lstStyle>
          <a:p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zh-CN" dirty="0"/>
              <a:t>Clear Purchase Decisions</a:t>
            </a:r>
            <a:endParaRPr sz="1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D31C092E-599E-0740-9EE0-BC1AFD761B14}"/>
              </a:ext>
            </a:extLst>
          </p:cNvPr>
          <p:cNvSpPr>
            <a:spLocks noGrp="1"/>
          </p:cNvSpPr>
          <p:nvPr/>
        </p:nvSpPr>
        <p:spPr>
          <a:xfrm>
            <a:off x="939602" y="2686719"/>
            <a:ext cx="3838649" cy="368047"/>
          </a:xfrm>
          <a:prstGeom prst="rect">
            <a:avLst/>
          </a:prstGeom>
          <a:solidFill>
            <a:srgbClr val="148A8B"/>
          </a:solidFill>
          <a:ln>
            <a:noFill/>
          </a:ln>
        </p:spPr>
        <p:txBody>
          <a:bodyPr wrap="none" lIns="90011" tIns="46768" rIns="90011" bIns="46768" anchor="ctr">
            <a:normAutofit/>
          </a:bodyPr>
          <a:lstStyle>
            <a:lvl1pPr marL="0" algn="l">
              <a:buNone/>
              <a:defRPr sz="1800">
                <a:solidFill>
                  <a:schemeClr val="tx1"/>
                </a:solidFill>
              </a:defRPr>
            </a:lvl1pPr>
            <a:lvl2pPr marL="457189" algn="l">
              <a:buNone/>
              <a:defRPr sz="1800">
                <a:solidFill>
                  <a:schemeClr val="tx1"/>
                </a:solidFill>
              </a:defRPr>
            </a:lvl2pPr>
            <a:lvl3pPr marL="914377" algn="l">
              <a:buNone/>
              <a:defRPr sz="1800">
                <a:solidFill>
                  <a:schemeClr val="tx1"/>
                </a:solidFill>
              </a:defRPr>
            </a:lvl3pPr>
            <a:lvl4pPr marL="1371566" algn="l">
              <a:buNone/>
              <a:defRPr sz="1800">
                <a:solidFill>
                  <a:schemeClr val="tx1"/>
                </a:solidFill>
              </a:defRPr>
            </a:lvl4pPr>
            <a:lvl5pPr marL="1828754" algn="l">
              <a:buNone/>
              <a:defRPr sz="1800">
                <a:solidFill>
                  <a:schemeClr val="tx1"/>
                </a:solidFill>
              </a:defRPr>
            </a:lvl5pPr>
            <a:lvl6pPr marL="2285943" algn="l">
              <a:buNone/>
              <a:defRPr sz="1800">
                <a:solidFill>
                  <a:schemeClr val="tx1"/>
                </a:solidFill>
              </a:defRPr>
            </a:lvl6pPr>
            <a:lvl7pPr marL="2743131" algn="l">
              <a:buNone/>
              <a:defRPr sz="1800">
                <a:solidFill>
                  <a:schemeClr val="tx1"/>
                </a:solidFill>
              </a:defRPr>
            </a:lvl7pPr>
            <a:lvl8pPr marL="3200320" algn="l">
              <a:buNone/>
              <a:defRPr sz="1800">
                <a:solidFill>
                  <a:schemeClr val="tx1"/>
                </a:solidFill>
              </a:defRPr>
            </a:lvl8pPr>
            <a:lvl9pPr marL="3657509" algn="l">
              <a:buNone/>
              <a:defRPr sz="1800">
                <a:solidFill>
                  <a:schemeClr val="tx1"/>
                </a:solidFill>
              </a:defRPr>
            </a:lvl9pPr>
          </a:lstStyle>
          <a:p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zh-CN" dirty="0"/>
              <a:t>Simple Purchase Process</a:t>
            </a:r>
            <a:endParaRPr sz="1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1B76DB55-5BA9-3B4F-A36B-6A57F25DD3CD}"/>
              </a:ext>
            </a:extLst>
          </p:cNvPr>
          <p:cNvSpPr>
            <a:spLocks noGrp="1"/>
          </p:cNvSpPr>
          <p:nvPr/>
        </p:nvSpPr>
        <p:spPr>
          <a:xfrm>
            <a:off x="939602" y="4063908"/>
            <a:ext cx="3838649" cy="368047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wrap="none" lIns="90011" tIns="46768" rIns="90011" bIns="46768" anchor="ctr">
            <a:normAutofit/>
          </a:bodyPr>
          <a:lstStyle>
            <a:lvl1pPr marL="0" algn="l">
              <a:buNone/>
              <a:defRPr sz="1800">
                <a:solidFill>
                  <a:schemeClr val="tx1"/>
                </a:solidFill>
              </a:defRPr>
            </a:lvl1pPr>
            <a:lvl2pPr marL="457189" algn="l">
              <a:buNone/>
              <a:defRPr sz="1800">
                <a:solidFill>
                  <a:schemeClr val="tx1"/>
                </a:solidFill>
              </a:defRPr>
            </a:lvl2pPr>
            <a:lvl3pPr marL="914377" algn="l">
              <a:buNone/>
              <a:defRPr sz="1800">
                <a:solidFill>
                  <a:schemeClr val="tx1"/>
                </a:solidFill>
              </a:defRPr>
            </a:lvl3pPr>
            <a:lvl4pPr marL="1371566" algn="l">
              <a:buNone/>
              <a:defRPr sz="1800">
                <a:solidFill>
                  <a:schemeClr val="tx1"/>
                </a:solidFill>
              </a:defRPr>
            </a:lvl4pPr>
            <a:lvl5pPr marL="1828754" algn="l">
              <a:buNone/>
              <a:defRPr sz="1800">
                <a:solidFill>
                  <a:schemeClr val="tx1"/>
                </a:solidFill>
              </a:defRPr>
            </a:lvl5pPr>
            <a:lvl6pPr marL="2285943" algn="l">
              <a:buNone/>
              <a:defRPr sz="1800">
                <a:solidFill>
                  <a:schemeClr val="tx1"/>
                </a:solidFill>
              </a:defRPr>
            </a:lvl6pPr>
            <a:lvl7pPr marL="2743131" algn="l">
              <a:buNone/>
              <a:defRPr sz="1800">
                <a:solidFill>
                  <a:schemeClr val="tx1"/>
                </a:solidFill>
              </a:defRPr>
            </a:lvl7pPr>
            <a:lvl8pPr marL="3200320" algn="l">
              <a:buNone/>
              <a:defRPr sz="1800">
                <a:solidFill>
                  <a:schemeClr val="tx1"/>
                </a:solidFill>
              </a:defRPr>
            </a:lvl8pPr>
            <a:lvl9pPr marL="3657509" algn="l">
              <a:buNone/>
              <a:defRPr sz="1800">
                <a:solidFill>
                  <a:schemeClr val="tx1"/>
                </a:solidFill>
              </a:defRPr>
            </a:lvl9pPr>
          </a:lstStyle>
          <a:p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zh-CN" dirty="0"/>
              <a:t>Flexible Learning Options</a:t>
            </a:r>
            <a:endParaRPr sz="1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99E93BC5-CAAA-4F90-B253-E98C42413B0C}"/>
              </a:ext>
            </a:extLst>
          </p:cNvPr>
          <p:cNvSpPr>
            <a:spLocks noGrp="1"/>
          </p:cNvSpPr>
          <p:nvPr/>
        </p:nvSpPr>
        <p:spPr>
          <a:xfrm>
            <a:off x="5608216" y="1585753"/>
            <a:ext cx="5753819" cy="4320447"/>
          </a:xfrm>
          <a:custGeom>
            <a:avLst/>
            <a:gdLst/>
            <a:ahLst/>
            <a:cxnLst/>
            <a:rect l="l" t="t" r="r" b="b"/>
            <a:pathLst>
              <a:path w="4996974" h="3911952">
                <a:moveTo>
                  <a:pt x="0" y="0"/>
                </a:moveTo>
                <a:lnTo>
                  <a:pt x="4996974" y="0"/>
                </a:lnTo>
                <a:lnTo>
                  <a:pt x="4996974" y="3911952"/>
                </a:lnTo>
                <a:lnTo>
                  <a:pt x="0" y="3911952"/>
                </a:lnTo>
                <a:close/>
              </a:path>
            </a:pathLst>
          </a:custGeom>
          <a:blipFill>
            <a:blip r:embed="rId4"/>
            <a:srcRect/>
            <a:stretch>
              <a:fillRect t="-45611" b="-45611"/>
            </a:stretch>
          </a:blip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C1C36129-456F-BF4D-8763-F28C554740B9}"/>
              </a:ext>
            </a:extLst>
          </p:cNvPr>
          <p:cNvSpPr>
            <a:spLocks noGrp="1"/>
          </p:cNvSpPr>
          <p:nvPr/>
        </p:nvSpPr>
        <p:spPr>
          <a:xfrm>
            <a:off x="939600" y="1741255"/>
            <a:ext cx="4032449" cy="9050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fontScale="92500" lnSpcReduction="10000"/>
          </a:bodyPr>
          <a:lstStyle>
            <a:lvl1pPr marL="0" algn="l">
              <a:buNone/>
              <a:defRPr sz="1800">
                <a:solidFill>
                  <a:schemeClr val="tx1"/>
                </a:solidFill>
              </a:defRPr>
            </a:lvl1pPr>
            <a:lvl2pPr marL="457200" algn="l">
              <a:buNone/>
              <a:defRPr sz="1800">
                <a:solidFill>
                  <a:schemeClr val="tx1"/>
                </a:solidFill>
              </a:defRPr>
            </a:lvl2pPr>
            <a:lvl3pPr marL="914400" algn="l">
              <a:buNone/>
              <a:defRPr sz="1800">
                <a:solidFill>
                  <a:schemeClr val="tx1"/>
                </a:solidFill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</a:defRPr>
            </a:lvl9pPr>
          </a:lstStyle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Course information is displayed before purchase.</a:t>
            </a: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 </a:t>
            </a: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Users can check the price, schedule and delivery format.</a:t>
            </a: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Trainer and course information support better decisions.</a:t>
            </a:r>
            <a:endParaRPr lang="en-US" altLang="zh-CN" sz="1200" dirty="0"/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B47FA5FF-A004-DD4E-9077-E9B252FF9B4F}"/>
              </a:ext>
            </a:extLst>
          </p:cNvPr>
          <p:cNvSpPr>
            <a:spLocks noGrp="1"/>
          </p:cNvSpPr>
          <p:nvPr/>
        </p:nvSpPr>
        <p:spPr>
          <a:xfrm>
            <a:off x="939602" y="3129540"/>
            <a:ext cx="4032447" cy="9043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fontScale="92500" lnSpcReduction="10000"/>
          </a:bodyPr>
          <a:lstStyle>
            <a:lvl1pPr marL="0" algn="l">
              <a:buNone/>
              <a:defRPr sz="1800">
                <a:solidFill>
                  <a:schemeClr val="tx1"/>
                </a:solidFill>
              </a:defRPr>
            </a:lvl1pPr>
            <a:lvl2pPr marL="457200" algn="l">
              <a:buNone/>
              <a:defRPr sz="1800">
                <a:solidFill>
                  <a:schemeClr val="tx1"/>
                </a:solidFill>
              </a:defRPr>
            </a:lvl2pPr>
            <a:lvl3pPr marL="914400" algn="l">
              <a:buNone/>
              <a:defRPr sz="1800">
                <a:solidFill>
                  <a:schemeClr val="tx1"/>
                </a:solidFill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</a:defRPr>
            </a:lvl9pPr>
          </a:lstStyle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Multiple items can be added to the shopping cart. </a:t>
            </a: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All platform purchases use one unified point system. </a:t>
            </a: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Course access is provided automatically after payment.</a:t>
            </a:r>
            <a:endParaRPr sz="1200" dirty="0">
              <a:solidFill>
                <a:srgbClr val="5361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BA0ED533-09A7-9942-9116-2AA2904FA652}"/>
              </a:ext>
            </a:extLst>
          </p:cNvPr>
          <p:cNvSpPr>
            <a:spLocks noGrp="1"/>
          </p:cNvSpPr>
          <p:nvPr/>
        </p:nvSpPr>
        <p:spPr>
          <a:xfrm>
            <a:off x="939601" y="4442908"/>
            <a:ext cx="4232473" cy="89109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fontScale="92500" lnSpcReduction="10000"/>
          </a:bodyPr>
          <a:lstStyle>
            <a:lvl1pPr marL="0" algn="l">
              <a:buNone/>
              <a:defRPr sz="1800">
                <a:solidFill>
                  <a:schemeClr val="tx1"/>
                </a:solidFill>
              </a:defRPr>
            </a:lvl1pPr>
            <a:lvl2pPr marL="457200" algn="l">
              <a:buNone/>
              <a:defRPr sz="1800">
                <a:solidFill>
                  <a:schemeClr val="tx1"/>
                </a:solidFill>
              </a:defRPr>
            </a:lvl2pPr>
            <a:lvl3pPr marL="914400" algn="l">
              <a:buNone/>
              <a:defRPr sz="1800">
                <a:solidFill>
                  <a:schemeClr val="tx1"/>
                </a:solidFill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</a:defRPr>
            </a:lvl9pPr>
          </a:lstStyle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Online and offline courses are supported. </a:t>
            </a: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Users can choose single sessions or course series.</a:t>
            </a: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 </a:t>
            </a: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Replay may be available for selected online courses.</a:t>
            </a:r>
            <a:endParaRPr sz="1200" dirty="0">
              <a:solidFill>
                <a:srgbClr val="5361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F32988A6-6BFA-94DA-016B-544D547C9F3F}"/>
              </a:ext>
            </a:extLst>
          </p:cNvPr>
          <p:cNvSpPr>
            <a:spLocks noGrp="1"/>
          </p:cNvSpPr>
          <p:nvPr/>
        </p:nvSpPr>
        <p:spPr>
          <a:xfrm>
            <a:off x="939602" y="5261929"/>
            <a:ext cx="3838649" cy="368047"/>
          </a:xfrm>
          <a:prstGeom prst="rect">
            <a:avLst/>
          </a:prstGeom>
          <a:solidFill>
            <a:srgbClr val="148A8B"/>
          </a:solidFill>
          <a:ln>
            <a:noFill/>
          </a:ln>
        </p:spPr>
        <p:txBody>
          <a:bodyPr wrap="none" lIns="90011" tIns="46768" rIns="90011" bIns="46768" anchor="ctr">
            <a:normAutofit/>
          </a:bodyPr>
          <a:lstStyle>
            <a:lvl1pPr marL="0" algn="l">
              <a:buNone/>
              <a:defRPr sz="1800">
                <a:solidFill>
                  <a:schemeClr val="tx1"/>
                </a:solidFill>
              </a:defRPr>
            </a:lvl1pPr>
            <a:lvl2pPr marL="457189" algn="l">
              <a:buNone/>
              <a:defRPr sz="1800">
                <a:solidFill>
                  <a:schemeClr val="tx1"/>
                </a:solidFill>
              </a:defRPr>
            </a:lvl2pPr>
            <a:lvl3pPr marL="914377" algn="l">
              <a:buNone/>
              <a:defRPr sz="1800">
                <a:solidFill>
                  <a:schemeClr val="tx1"/>
                </a:solidFill>
              </a:defRPr>
            </a:lvl3pPr>
            <a:lvl4pPr marL="1371566" algn="l">
              <a:buNone/>
              <a:defRPr sz="1800">
                <a:solidFill>
                  <a:schemeClr val="tx1"/>
                </a:solidFill>
              </a:defRPr>
            </a:lvl4pPr>
            <a:lvl5pPr marL="1828754" algn="l">
              <a:buNone/>
              <a:defRPr sz="1800">
                <a:solidFill>
                  <a:schemeClr val="tx1"/>
                </a:solidFill>
              </a:defRPr>
            </a:lvl5pPr>
            <a:lvl6pPr marL="2285943" algn="l">
              <a:buNone/>
              <a:defRPr sz="1800">
                <a:solidFill>
                  <a:schemeClr val="tx1"/>
                </a:solidFill>
              </a:defRPr>
            </a:lvl6pPr>
            <a:lvl7pPr marL="2743131" algn="l">
              <a:buNone/>
              <a:defRPr sz="1800">
                <a:solidFill>
                  <a:schemeClr val="tx1"/>
                </a:solidFill>
              </a:defRPr>
            </a:lvl7pPr>
            <a:lvl8pPr marL="3200320" algn="l">
              <a:buNone/>
              <a:defRPr sz="1800">
                <a:solidFill>
                  <a:schemeClr val="tx1"/>
                </a:solidFill>
              </a:defRPr>
            </a:lvl8pPr>
            <a:lvl9pPr marL="3657509" algn="l">
              <a:buNone/>
              <a:defRPr sz="1800">
                <a:solidFill>
                  <a:schemeClr val="tx1"/>
                </a:solidFill>
              </a:defRPr>
            </a:lvl9pPr>
          </a:lstStyle>
          <a:p>
            <a: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zh-CN" dirty="0"/>
              <a:t>Transparent Learning Management</a:t>
            </a:r>
            <a:endParaRPr sz="18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90A91572-5CA7-B416-0D23-17CAFBA4CC2A}"/>
              </a:ext>
            </a:extLst>
          </p:cNvPr>
          <p:cNvSpPr>
            <a:spLocks noGrp="1"/>
          </p:cNvSpPr>
          <p:nvPr/>
        </p:nvSpPr>
        <p:spPr>
          <a:xfrm>
            <a:off x="939601" y="5704751"/>
            <a:ext cx="3838649" cy="8928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fontScale="92500" lnSpcReduction="10000"/>
          </a:bodyPr>
          <a:lstStyle>
            <a:lvl1pPr marL="0" algn="l">
              <a:buNone/>
              <a:defRPr sz="1800">
                <a:solidFill>
                  <a:schemeClr val="tx1"/>
                </a:solidFill>
              </a:defRPr>
            </a:lvl1pPr>
            <a:lvl2pPr marL="457200" algn="l">
              <a:buNone/>
              <a:defRPr sz="1800">
                <a:solidFill>
                  <a:schemeClr val="tx1"/>
                </a:solidFill>
              </a:defRPr>
            </a:lvl2pPr>
            <a:lvl3pPr marL="914400" algn="l">
              <a:buNone/>
              <a:defRPr sz="1800">
                <a:solidFill>
                  <a:schemeClr val="tx1"/>
                </a:solidFill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</a:defRPr>
            </a:lvl9pPr>
          </a:lstStyle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Users can check course and purchase status. </a:t>
            </a: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Learning time and transaction records are stored. </a:t>
            </a: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endParaRPr lang="en-US" altLang="zh-CN" sz="1200" dirty="0"/>
          </a:p>
          <a:p>
            <a:pPr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200" dirty="0"/>
              <a:t>Refund eligibility is clearly displayed.</a:t>
            </a:r>
            <a:endParaRPr sz="1200" dirty="0">
              <a:solidFill>
                <a:srgbClr val="5361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EDA8608-FE82-1659-B570-0BB06F3B42D7}"/>
              </a:ext>
            </a:extLst>
          </p:cNvPr>
          <p:cNvSpPr txBox="1"/>
          <p:nvPr/>
        </p:nvSpPr>
        <p:spPr>
          <a:xfrm>
            <a:off x="3019425" y="438408"/>
            <a:ext cx="773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solidFill>
                  <a:srgbClr val="002060"/>
                </a:solidFill>
              </a:rPr>
              <a:t>How This User Flow Improves the Learning Experience</a:t>
            </a:r>
            <a:endParaRPr lang="zh-CN" altLang="en-US" sz="2400" b="1" dirty="0">
              <a:solidFill>
                <a:srgbClr val="002060"/>
              </a:solidFill>
            </a:endParaRP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98E80344-1B50-CE8B-CCD0-22BB0F8E52F8}"/>
              </a:ext>
            </a:extLst>
          </p:cNvPr>
          <p:cNvSpPr>
            <a:spLocks noGrp="1"/>
          </p:cNvSpPr>
          <p:nvPr/>
        </p:nvSpPr>
        <p:spPr>
          <a:xfrm>
            <a:off x="-275496" y="438408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7575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A3EEF-1001-9E17-E2A8-982EF5DAD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>
            <a:extLst>
              <a:ext uri="{FF2B5EF4-FFF2-40B4-BE49-F238E27FC236}">
                <a16:creationId xmlns:a16="http://schemas.microsoft.com/office/drawing/2014/main" id="{1CC1AAC3-33E0-ED9A-CD93-A519FD594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55A65D9A-5438-3AAD-61E6-DE37896C9C5D}"/>
              </a:ext>
            </a:extLst>
          </p:cNvPr>
          <p:cNvSpPr>
            <a:spLocks noGrp="1"/>
          </p:cNvSpPr>
          <p:nvPr/>
        </p:nvSpPr>
        <p:spPr>
          <a:xfrm rot="1023670">
            <a:off x="-938152" y="5191720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BE667343-1F77-6479-F62B-C7661B271C23}"/>
              </a:ext>
            </a:extLst>
          </p:cNvPr>
          <p:cNvSpPr>
            <a:spLocks noGrp="1"/>
          </p:cNvSpPr>
          <p:nvPr/>
        </p:nvSpPr>
        <p:spPr>
          <a:xfrm>
            <a:off x="6279533" y="3268721"/>
            <a:ext cx="4768276" cy="271036"/>
          </a:xfrm>
          <a:prstGeom prst="roundRect">
            <a:avLst>
              <a:gd name="adj" fmla="val 50000"/>
            </a:avLst>
          </a:prstGeom>
          <a:solidFill>
            <a:srgbClr val="E8D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6CFCDDDD-F4D1-3839-82DA-3904621EA71D}"/>
              </a:ext>
            </a:extLst>
          </p:cNvPr>
          <p:cNvSpPr>
            <a:spLocks noGrp="1"/>
          </p:cNvSpPr>
          <p:nvPr/>
        </p:nvSpPr>
        <p:spPr>
          <a:xfrm>
            <a:off x="5000134" y="1965178"/>
            <a:ext cx="7327073" cy="156966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4800" b="1" dirty="0"/>
              <a:t>Creator &amp; Trainer Publishing Features</a:t>
            </a:r>
            <a:endParaRPr lang="en-US" altLang="zh-CN" sz="4800" b="1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683BD75D-ED03-BFD5-1F0B-26EC170805AA}"/>
              </a:ext>
            </a:extLst>
          </p:cNvPr>
          <p:cNvSpPr>
            <a:spLocks noGrp="1"/>
          </p:cNvSpPr>
          <p:nvPr/>
        </p:nvSpPr>
        <p:spPr>
          <a:xfrm>
            <a:off x="2724245" y="1809375"/>
            <a:ext cx="2275889" cy="2275889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7316B46E-5A5A-8CAE-FE54-92DD2E3BFECF}"/>
              </a:ext>
            </a:extLst>
          </p:cNvPr>
          <p:cNvSpPr>
            <a:spLocks noGrp="1"/>
          </p:cNvSpPr>
          <p:nvPr/>
        </p:nvSpPr>
        <p:spPr>
          <a:xfrm>
            <a:off x="2098366" y="1961606"/>
            <a:ext cx="3541468" cy="186204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1500" b="1">
                <a:solidFill>
                  <a:srgbClr val="D8E3E6"/>
                </a:solidFill>
                <a:latin typeface="Arial"/>
                <a:ea typeface="Arial"/>
                <a:cs typeface="Arial"/>
              </a:defRPr>
            </a:pPr>
            <a:r>
              <a:rPr sz="1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sz="115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8AC73E26-DCF0-7CFD-E43C-E3448870A43E}"/>
              </a:ext>
            </a:extLst>
          </p:cNvPr>
          <p:cNvSpPr>
            <a:spLocks noGrp="1"/>
          </p:cNvSpPr>
          <p:nvPr/>
        </p:nvSpPr>
        <p:spPr>
          <a:xfrm rot="1023670">
            <a:off x="10327292" y="5591742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148A8B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F5648D0D-3A54-D2D5-F3BF-1B0C616CE73C}"/>
              </a:ext>
            </a:extLst>
          </p:cNvPr>
          <p:cNvSpPr>
            <a:spLocks noGrp="1"/>
          </p:cNvSpPr>
          <p:nvPr/>
        </p:nvSpPr>
        <p:spPr>
          <a:xfrm rot="5400000">
            <a:off x="840372" y="-49269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9172B65B-2F4A-46FB-5486-DDBF37238D62}"/>
              </a:ext>
            </a:extLst>
          </p:cNvPr>
          <p:cNvSpPr>
            <a:spLocks noGrp="1"/>
          </p:cNvSpPr>
          <p:nvPr/>
        </p:nvSpPr>
        <p:spPr>
          <a:xfrm>
            <a:off x="11897" y="645749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9541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4D2F1-4EF0-A7F0-FA8B-643B6D34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演示研究所 SlideLab.cc">
            <a:extLst>
              <a:ext uri="{FF2B5EF4-FFF2-40B4-BE49-F238E27FC236}">
                <a16:creationId xmlns:a16="http://schemas.microsoft.com/office/drawing/2014/main" id="{8C698591-A8B0-3838-AEAA-F6DF1351A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演示研究所 SlideLab.cc">
            <a:extLst>
              <a:ext uri="{FF2B5EF4-FFF2-40B4-BE49-F238E27FC236}">
                <a16:creationId xmlns:a16="http://schemas.microsoft.com/office/drawing/2014/main" id="{FF4ECC81-FFB3-04E7-F81C-DC77EA712E14}"/>
              </a:ext>
            </a:extLst>
          </p:cNvPr>
          <p:cNvSpPr>
            <a:spLocks noGrp="1"/>
          </p:cNvSpPr>
          <p:nvPr/>
        </p:nvSpPr>
        <p:spPr>
          <a:xfrm rot="1023670">
            <a:off x="10242194" y="5547268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流程图: 终止 6">
            <a:extLst>
              <a:ext uri="{FF2B5EF4-FFF2-40B4-BE49-F238E27FC236}">
                <a16:creationId xmlns:a16="http://schemas.microsoft.com/office/drawing/2014/main" id="{FE22D140-17E9-ACC3-6322-B0E8A834FD93}"/>
              </a:ext>
            </a:extLst>
          </p:cNvPr>
          <p:cNvSpPr/>
          <p:nvPr/>
        </p:nvSpPr>
        <p:spPr>
          <a:xfrm>
            <a:off x="410865" y="1395023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Apply for Trainer or Creator</a:t>
            </a:r>
            <a:endParaRPr lang="zh-CN" altLang="en-US" dirty="0"/>
          </a:p>
        </p:txBody>
      </p:sp>
      <p:sp>
        <p:nvSpPr>
          <p:cNvPr id="10" name="流程图: 终止 9">
            <a:extLst>
              <a:ext uri="{FF2B5EF4-FFF2-40B4-BE49-F238E27FC236}">
                <a16:creationId xmlns:a16="http://schemas.microsoft.com/office/drawing/2014/main" id="{2181D678-7CC1-0913-5F59-DD47596E976A}"/>
              </a:ext>
            </a:extLst>
          </p:cNvPr>
          <p:cNvSpPr/>
          <p:nvPr/>
        </p:nvSpPr>
        <p:spPr>
          <a:xfrm>
            <a:off x="410865" y="2234268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Admin Reviews the Application</a:t>
            </a:r>
            <a:endParaRPr lang="zh-CN" altLang="en-US" dirty="0"/>
          </a:p>
        </p:txBody>
      </p:sp>
      <p:sp>
        <p:nvSpPr>
          <p:cNvPr id="21" name="流程图: 终止 20">
            <a:extLst>
              <a:ext uri="{FF2B5EF4-FFF2-40B4-BE49-F238E27FC236}">
                <a16:creationId xmlns:a16="http://schemas.microsoft.com/office/drawing/2014/main" id="{0C606E3C-F9D2-5233-CF17-9E231DFD1282}"/>
              </a:ext>
            </a:extLst>
          </p:cNvPr>
          <p:cNvSpPr/>
          <p:nvPr/>
        </p:nvSpPr>
        <p:spPr>
          <a:xfrm>
            <a:off x="410865" y="3140688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Role Permission Is Approved</a:t>
            </a:r>
            <a:endParaRPr lang="zh-CN" altLang="en-US" dirty="0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90A37A44-244D-D27E-9D08-7BF4883C9C0D}"/>
              </a:ext>
            </a:extLst>
          </p:cNvPr>
          <p:cNvSpPr/>
          <p:nvPr/>
        </p:nvSpPr>
        <p:spPr>
          <a:xfrm rot="5400000">
            <a:off x="891516" y="2795663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53ABBBB1-02C8-E7F2-52F2-B5755BD75032}"/>
              </a:ext>
            </a:extLst>
          </p:cNvPr>
          <p:cNvSpPr/>
          <p:nvPr/>
        </p:nvSpPr>
        <p:spPr>
          <a:xfrm rot="5400000">
            <a:off x="2298988" y="1941277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8C6BA1A0-0BFE-D176-8C60-D1D53A38F8E6}"/>
              </a:ext>
            </a:extLst>
          </p:cNvPr>
          <p:cNvSpPr/>
          <p:nvPr/>
        </p:nvSpPr>
        <p:spPr>
          <a:xfrm rot="5400000">
            <a:off x="2298988" y="3701492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流程图: 终止 41">
            <a:extLst>
              <a:ext uri="{FF2B5EF4-FFF2-40B4-BE49-F238E27FC236}">
                <a16:creationId xmlns:a16="http://schemas.microsoft.com/office/drawing/2014/main" id="{192193D8-D5BC-A4EF-C4CE-97748341CFD0}"/>
              </a:ext>
            </a:extLst>
          </p:cNvPr>
          <p:cNvSpPr/>
          <p:nvPr/>
        </p:nvSpPr>
        <p:spPr>
          <a:xfrm>
            <a:off x="410042" y="4046517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Create a Course or Digital Content</a:t>
            </a:r>
            <a:endParaRPr lang="zh-CN" altLang="en-US" dirty="0"/>
          </a:p>
        </p:txBody>
      </p:sp>
      <p:sp>
        <p:nvSpPr>
          <p:cNvPr id="44" name="流程图: 终止 43">
            <a:extLst>
              <a:ext uri="{FF2B5EF4-FFF2-40B4-BE49-F238E27FC236}">
                <a16:creationId xmlns:a16="http://schemas.microsoft.com/office/drawing/2014/main" id="{9932C4D1-DDE7-C194-4287-58CF9D1ABA57}"/>
              </a:ext>
            </a:extLst>
          </p:cNvPr>
          <p:cNvSpPr/>
          <p:nvPr/>
        </p:nvSpPr>
        <p:spPr>
          <a:xfrm>
            <a:off x="410042" y="4885762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Save and Validate the Draft</a:t>
            </a:r>
            <a:endParaRPr lang="zh-CN" altLang="en-US" dirty="0"/>
          </a:p>
        </p:txBody>
      </p:sp>
      <p:sp>
        <p:nvSpPr>
          <p:cNvPr id="46" name="流程图: 终止 45">
            <a:extLst>
              <a:ext uri="{FF2B5EF4-FFF2-40B4-BE49-F238E27FC236}">
                <a16:creationId xmlns:a16="http://schemas.microsoft.com/office/drawing/2014/main" id="{15164238-48D3-7FB1-C888-F7FEB67BAA38}"/>
              </a:ext>
            </a:extLst>
          </p:cNvPr>
          <p:cNvSpPr/>
          <p:nvPr/>
        </p:nvSpPr>
        <p:spPr>
          <a:xfrm>
            <a:off x="410042" y="5773132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Publish</a:t>
            </a:r>
            <a:endParaRPr lang="zh-CN" altLang="en-US" dirty="0"/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D48B578B-8412-8A84-1E83-FD66B75A78F2}"/>
              </a:ext>
            </a:extLst>
          </p:cNvPr>
          <p:cNvSpPr/>
          <p:nvPr/>
        </p:nvSpPr>
        <p:spPr>
          <a:xfrm rot="5400000">
            <a:off x="2334567" y="5442899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FFFA03F8-CF18-6BED-EA53-B48668A51068}"/>
              </a:ext>
            </a:extLst>
          </p:cNvPr>
          <p:cNvSpPr/>
          <p:nvPr/>
        </p:nvSpPr>
        <p:spPr>
          <a:xfrm rot="5400000">
            <a:off x="890693" y="4602244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1C99B0A4-AA95-E707-09AD-17DE9DB8ED34}"/>
              </a:ext>
            </a:extLst>
          </p:cNvPr>
          <p:cNvSpPr>
            <a:spLocks noGrp="1"/>
          </p:cNvSpPr>
          <p:nvPr/>
        </p:nvSpPr>
        <p:spPr>
          <a:xfrm>
            <a:off x="3708099" y="1123950"/>
            <a:ext cx="7153275" cy="5338129"/>
          </a:xfrm>
          <a:custGeom>
            <a:avLst/>
            <a:gdLst/>
            <a:ahLst/>
            <a:cxnLst/>
            <a:rect l="l" t="t" r="r" b="b"/>
            <a:pathLst>
              <a:path w="9093200" h="4876800">
                <a:moveTo>
                  <a:pt x="381024" y="0"/>
                </a:moveTo>
                <a:lnTo>
                  <a:pt x="8712176" y="0"/>
                </a:lnTo>
                <a:cubicBezTo>
                  <a:pt x="8922610" y="0"/>
                  <a:pt x="9093200" y="170590"/>
                  <a:pt x="9093200" y="381024"/>
                </a:cubicBezTo>
                <a:lnTo>
                  <a:pt x="9093200" y="2039630"/>
                </a:lnTo>
                <a:lnTo>
                  <a:pt x="9080500" y="2038350"/>
                </a:lnTo>
                <a:cubicBezTo>
                  <a:pt x="8859558" y="2038350"/>
                  <a:pt x="8680450" y="2217458"/>
                  <a:pt x="8680450" y="2438400"/>
                </a:cubicBezTo>
                <a:cubicBezTo>
                  <a:pt x="8680450" y="2659342"/>
                  <a:pt x="8859558" y="2838450"/>
                  <a:pt x="9080500" y="2838450"/>
                </a:cubicBezTo>
                <a:lnTo>
                  <a:pt x="9093200" y="2837170"/>
                </a:lnTo>
                <a:lnTo>
                  <a:pt x="9093200" y="4495776"/>
                </a:lnTo>
                <a:cubicBezTo>
                  <a:pt x="9093200" y="4706210"/>
                  <a:pt x="8922610" y="4876800"/>
                  <a:pt x="8712176" y="4876800"/>
                </a:cubicBezTo>
                <a:lnTo>
                  <a:pt x="381024" y="4876800"/>
                </a:lnTo>
                <a:cubicBezTo>
                  <a:pt x="170590" y="4876800"/>
                  <a:pt x="0" y="4706210"/>
                  <a:pt x="0" y="4495776"/>
                </a:cubicBezTo>
                <a:lnTo>
                  <a:pt x="0" y="2838450"/>
                </a:lnTo>
                <a:cubicBezTo>
                  <a:pt x="220942" y="2838450"/>
                  <a:pt x="400050" y="2659342"/>
                  <a:pt x="400050" y="2438400"/>
                </a:cubicBezTo>
                <a:cubicBezTo>
                  <a:pt x="400050" y="2217458"/>
                  <a:pt x="220942" y="2038350"/>
                  <a:pt x="0" y="2038350"/>
                </a:cubicBezTo>
                <a:lnTo>
                  <a:pt x="0" y="381024"/>
                </a:lnTo>
                <a:cubicBezTo>
                  <a:pt x="0" y="170590"/>
                  <a:pt x="170590" y="0"/>
                  <a:pt x="3810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76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CB3800C1-94E5-9DBA-D18E-8490BCDB90AE}"/>
              </a:ext>
            </a:extLst>
          </p:cNvPr>
          <p:cNvSpPr>
            <a:spLocks noGrp="1"/>
          </p:cNvSpPr>
          <p:nvPr/>
        </p:nvSpPr>
        <p:spPr>
          <a:xfrm>
            <a:off x="4714454" y="1306821"/>
            <a:ext cx="5445278" cy="50475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zh-CN" altLang="zh-CN" sz="1400" b="1" dirty="0">
                <a:solidFill>
                  <a:srgbClr val="002060"/>
                </a:solidFill>
              </a:rPr>
              <a:t>Trainer Course Publishing</a:t>
            </a:r>
          </a:p>
          <a:p>
            <a:r>
              <a:rPr lang="zh-CN" altLang="zh-CN" sz="1400" dirty="0">
                <a:solidFill>
                  <a:srgbClr val="002060"/>
                </a:solidFill>
              </a:rPr>
              <a:t>Create online or offline courses </a:t>
            </a:r>
          </a:p>
          <a:p>
            <a:r>
              <a:rPr lang="zh-CN" altLang="zh-CN" sz="1400" dirty="0">
                <a:solidFill>
                  <a:srgbClr val="002060"/>
                </a:solidFill>
              </a:rPr>
              <a:t>Set single sessions or course series </a:t>
            </a:r>
          </a:p>
          <a:p>
            <a:r>
              <a:rPr lang="zh-CN" altLang="zh-CN" sz="1400" dirty="0">
                <a:solidFill>
                  <a:srgbClr val="002060"/>
                </a:solidFill>
              </a:rPr>
              <a:t>Add schedules, duration and modules </a:t>
            </a:r>
          </a:p>
          <a:p>
            <a:r>
              <a:rPr lang="zh-CN" altLang="zh-CN" sz="1400" dirty="0">
                <a:solidFill>
                  <a:srgbClr val="002060"/>
                </a:solidFill>
              </a:rPr>
              <a:t>Configure replay and course materials </a:t>
            </a:r>
            <a:endParaRPr lang="en-US" altLang="zh-CN" sz="1400" dirty="0">
              <a:solidFill>
                <a:srgbClr val="002060"/>
              </a:solidFill>
            </a:endParaRPr>
          </a:p>
          <a:p>
            <a:endParaRPr lang="zh-CN" altLang="zh-CN" sz="1400" dirty="0"/>
          </a:p>
          <a:p>
            <a:r>
              <a:rPr lang="zh-CN" altLang="zh-CN" sz="1400" b="1" dirty="0"/>
              <a:t>Creator Content Publishing</a:t>
            </a:r>
          </a:p>
          <a:p>
            <a:r>
              <a:rPr lang="zh-CN" altLang="zh-CN" sz="1400" dirty="0"/>
              <a:t>Create digital learning content </a:t>
            </a:r>
          </a:p>
          <a:p>
            <a:r>
              <a:rPr lang="zh-CN" altLang="zh-CN" sz="1400" dirty="0"/>
              <a:t>Set content type and point price </a:t>
            </a:r>
          </a:p>
          <a:p>
            <a:r>
              <a:rPr lang="zh-CN" altLang="zh-CN" sz="1400" dirty="0"/>
              <a:t>Upload files, videos, images or links </a:t>
            </a:r>
          </a:p>
          <a:p>
            <a:r>
              <a:rPr lang="zh-CN" altLang="zh-CN" sz="1400" dirty="0"/>
              <a:t>Manage and update published content </a:t>
            </a:r>
            <a:endParaRPr lang="en-US" altLang="zh-CN" sz="1400" dirty="0"/>
          </a:p>
          <a:p>
            <a:endParaRPr lang="zh-CN" altLang="zh-CN" sz="1400" dirty="0">
              <a:solidFill>
                <a:srgbClr val="002060"/>
              </a:solidFill>
            </a:endParaRPr>
          </a:p>
          <a:p>
            <a:r>
              <a:rPr lang="zh-CN" altLang="zh-CN" sz="1400" b="1" dirty="0">
                <a:solidFill>
                  <a:srgbClr val="002060"/>
                </a:solidFill>
              </a:rPr>
              <a:t>Role-Based Access</a:t>
            </a:r>
          </a:p>
          <a:p>
            <a:r>
              <a:rPr lang="zh-CN" altLang="zh-CN" sz="1400" dirty="0">
                <a:solidFill>
                  <a:srgbClr val="002060"/>
                </a:solidFill>
              </a:rPr>
              <a:t>Members cannot publish directly </a:t>
            </a:r>
          </a:p>
          <a:p>
            <a:r>
              <a:rPr lang="zh-CN" altLang="zh-CN" sz="1400" dirty="0">
                <a:solidFill>
                  <a:srgbClr val="002060"/>
                </a:solidFill>
              </a:rPr>
              <a:t>Users apply for Trainer or Creator roles </a:t>
            </a:r>
          </a:p>
          <a:p>
            <a:r>
              <a:rPr lang="zh-CN" altLang="zh-CN" sz="1400" dirty="0">
                <a:solidFill>
                  <a:srgbClr val="002060"/>
                </a:solidFill>
              </a:rPr>
              <a:t>Admin approval unlocks publishing tools </a:t>
            </a:r>
          </a:p>
          <a:p>
            <a:r>
              <a:rPr lang="zh-CN" altLang="zh-CN" sz="1400" dirty="0">
                <a:solidFill>
                  <a:srgbClr val="002060"/>
                </a:solidFill>
              </a:rPr>
              <a:t>Different roles receive different editors </a:t>
            </a:r>
            <a:endParaRPr lang="en-US" altLang="zh-CN" sz="1400" dirty="0">
              <a:solidFill>
                <a:srgbClr val="002060"/>
              </a:solidFill>
            </a:endParaRPr>
          </a:p>
          <a:p>
            <a:endParaRPr lang="zh-CN" altLang="zh-CN" sz="1400" dirty="0"/>
          </a:p>
          <a:p>
            <a:r>
              <a:rPr lang="zh-CN" altLang="zh-CN" sz="1400" b="1" dirty="0"/>
              <a:t>Publishing Management</a:t>
            </a:r>
          </a:p>
          <a:p>
            <a:r>
              <a:rPr lang="zh-CN" altLang="zh-CN" sz="1400" dirty="0"/>
              <a:t>Save drafts </a:t>
            </a:r>
          </a:p>
          <a:p>
            <a:r>
              <a:rPr lang="zh-CN" altLang="zh-CN" sz="1400" dirty="0"/>
              <a:t>Validate required information </a:t>
            </a:r>
          </a:p>
          <a:p>
            <a:r>
              <a:rPr lang="zh-CN" altLang="zh-CN" sz="1400" dirty="0"/>
              <a:t>Publish or update resources </a:t>
            </a:r>
          </a:p>
          <a:p>
            <a:r>
              <a:rPr lang="zh-CN" altLang="zh-CN" sz="1400" dirty="0"/>
              <a:t>View published items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F240005-9D86-94DC-820C-08DE6953B20C}"/>
              </a:ext>
            </a:extLst>
          </p:cNvPr>
          <p:cNvSpPr txBox="1"/>
          <p:nvPr/>
        </p:nvSpPr>
        <p:spPr>
          <a:xfrm>
            <a:off x="3933825" y="407917"/>
            <a:ext cx="5304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solidFill>
                  <a:srgbClr val="002060"/>
                </a:solidFill>
              </a:rPr>
              <a:t>Creator &amp; Trainer Publishing Feature</a:t>
            </a:r>
            <a:endParaRPr lang="zh-CN" altLang="en-US" sz="2400" b="1" dirty="0">
              <a:solidFill>
                <a:srgbClr val="002060"/>
              </a:solidFill>
            </a:endParaRPr>
          </a:p>
        </p:txBody>
      </p:sp>
      <p:sp>
        <p:nvSpPr>
          <p:cNvPr id="55" name="演示研究所 SlideLab.cc">
            <a:extLst>
              <a:ext uri="{FF2B5EF4-FFF2-40B4-BE49-F238E27FC236}">
                <a16:creationId xmlns:a16="http://schemas.microsoft.com/office/drawing/2014/main" id="{2FD3C067-23BB-7900-2FE2-8F02E73C70E1}"/>
              </a:ext>
            </a:extLst>
          </p:cNvPr>
          <p:cNvSpPr>
            <a:spLocks noGrp="1"/>
          </p:cNvSpPr>
          <p:nvPr/>
        </p:nvSpPr>
        <p:spPr>
          <a:xfrm flipV="1">
            <a:off x="10898036" y="380191"/>
            <a:ext cx="898750" cy="681320"/>
          </a:xfrm>
          <a:custGeom>
            <a:avLst/>
            <a:gdLst/>
            <a:ahLst/>
            <a:cxnLst/>
            <a:rect l="l" t="t" r="r" b="b"/>
            <a:pathLst>
              <a:path w="1077550" h="816864">
                <a:moveTo>
                  <a:pt x="826831" y="0"/>
                </a:moveTo>
                <a:lnTo>
                  <a:pt x="0" y="816864"/>
                </a:lnTo>
                <a:lnTo>
                  <a:pt x="1077550" y="738221"/>
                </a:lnTo>
                <a:lnTo>
                  <a:pt x="847372" y="504151"/>
                </a:lnTo>
                <a:lnTo>
                  <a:pt x="826831" y="0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7" name="演示研究所 SlideLab.cc">
            <a:extLst>
              <a:ext uri="{FF2B5EF4-FFF2-40B4-BE49-F238E27FC236}">
                <a16:creationId xmlns:a16="http://schemas.microsoft.com/office/drawing/2014/main" id="{BA83C980-0240-B1BB-372B-4DDA18CA720D}"/>
              </a:ext>
            </a:extLst>
          </p:cNvPr>
          <p:cNvSpPr>
            <a:spLocks noGrp="1"/>
          </p:cNvSpPr>
          <p:nvPr/>
        </p:nvSpPr>
        <p:spPr>
          <a:xfrm rot="21316033" flipV="1">
            <a:off x="10908925" y="342458"/>
            <a:ext cx="940067" cy="442339"/>
          </a:xfrm>
          <a:custGeom>
            <a:avLst/>
            <a:gdLst/>
            <a:ahLst/>
            <a:cxnLst/>
            <a:rect l="l" t="t" r="r" b="b"/>
            <a:pathLst>
              <a:path w="1127086" h="530340">
                <a:moveTo>
                  <a:pt x="0" y="530341"/>
                </a:moveTo>
                <a:lnTo>
                  <a:pt x="1127086" y="129609"/>
                </a:lnTo>
                <a:lnTo>
                  <a:pt x="784637" y="0"/>
                </a:lnTo>
                <a:lnTo>
                  <a:pt x="0" y="530341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" name="流程图: 终止 4">
            <a:extLst>
              <a:ext uri="{FF2B5EF4-FFF2-40B4-BE49-F238E27FC236}">
                <a16:creationId xmlns:a16="http://schemas.microsoft.com/office/drawing/2014/main" id="{F9F8B7AA-D8F3-A329-0647-7AFB21B42918}"/>
              </a:ext>
            </a:extLst>
          </p:cNvPr>
          <p:cNvSpPr/>
          <p:nvPr/>
        </p:nvSpPr>
        <p:spPr>
          <a:xfrm>
            <a:off x="410042" y="489194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Member</a:t>
            </a:r>
            <a:endParaRPr lang="zh-CN" altLang="en-US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356B4C79-EA97-8553-4E32-C7C18E8729E2}"/>
              </a:ext>
            </a:extLst>
          </p:cNvPr>
          <p:cNvSpPr/>
          <p:nvPr/>
        </p:nvSpPr>
        <p:spPr>
          <a:xfrm rot="5400000">
            <a:off x="890693" y="1050589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167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演示研究所 SlideLab.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演示研究所 SlideLab.cc">
            <a:extLst>
              <a:ext uri="{FF2B5EF4-FFF2-40B4-BE49-F238E27FC236}">
                <a16:creationId xmlns:a16="http://schemas.microsoft.com/office/drawing/2014/main" id="{BC1D8C8D-EF07-4857-BA78-B5FA1A08C674}"/>
              </a:ext>
            </a:extLst>
          </p:cNvPr>
          <p:cNvSpPr>
            <a:spLocks noGrp="1"/>
          </p:cNvSpPr>
          <p:nvPr/>
        </p:nvSpPr>
        <p:spPr>
          <a:xfrm rot="5400000">
            <a:off x="900674" y="-66703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演示研究所 SlideLab.cc">
            <a:extLst>
              <a:ext uri="{FF2B5EF4-FFF2-40B4-BE49-F238E27FC236}">
                <a16:creationId xmlns:a16="http://schemas.microsoft.com/office/drawing/2014/main" id="{7D60FCD1-C3B1-4E5F-AE0D-E99B5A757F87}"/>
              </a:ext>
            </a:extLst>
          </p:cNvPr>
          <p:cNvSpPr>
            <a:spLocks noGrp="1"/>
          </p:cNvSpPr>
          <p:nvPr/>
        </p:nvSpPr>
        <p:spPr>
          <a:xfrm rot="1023670">
            <a:off x="10242194" y="5547268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ACC79842-D1B6-1641-9859-223447C809B3}"/>
              </a:ext>
            </a:extLst>
          </p:cNvPr>
          <p:cNvSpPr>
            <a:spLocks noGrp="1"/>
          </p:cNvSpPr>
          <p:nvPr/>
        </p:nvSpPr>
        <p:spPr>
          <a:xfrm>
            <a:off x="7225224" y="1001357"/>
            <a:ext cx="3763617" cy="3763617"/>
          </a:xfrm>
          <a:prstGeom prst="ellipse">
            <a:avLst/>
          </a:prstGeom>
          <a:noFill/>
          <a:ln w="12668">
            <a:solidFill>
              <a:srgbClr val="D8E3E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7A9855E7-9EC9-A74F-86B1-67B67C0C9F35}"/>
              </a:ext>
            </a:extLst>
          </p:cNvPr>
          <p:cNvSpPr>
            <a:spLocks noGrp="1"/>
          </p:cNvSpPr>
          <p:nvPr/>
        </p:nvSpPr>
        <p:spPr>
          <a:xfrm>
            <a:off x="10299809" y="3549214"/>
            <a:ext cx="874644" cy="874644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31F3AFC9-A6D2-E543-BEBE-18FCF90A4EDE}"/>
              </a:ext>
            </a:extLst>
          </p:cNvPr>
          <p:cNvSpPr>
            <a:spLocks noGrp="1"/>
          </p:cNvSpPr>
          <p:nvPr/>
        </p:nvSpPr>
        <p:spPr>
          <a:xfrm>
            <a:off x="7758633" y="1460034"/>
            <a:ext cx="2726787" cy="2726787"/>
          </a:xfrm>
          <a:prstGeom prst="ellipse">
            <a:avLst/>
          </a:prstGeom>
          <a:solidFill>
            <a:srgbClr val="148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35B12228-D881-7B43-9D3F-F1306E56A28F}"/>
              </a:ext>
            </a:extLst>
          </p:cNvPr>
          <p:cNvSpPr>
            <a:spLocks noGrp="1"/>
          </p:cNvSpPr>
          <p:nvPr/>
        </p:nvSpPr>
        <p:spPr>
          <a:xfrm>
            <a:off x="8921501" y="444559"/>
            <a:ext cx="874644" cy="874644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945A4754-DF05-804F-896C-72164E998960}"/>
              </a:ext>
            </a:extLst>
          </p:cNvPr>
          <p:cNvSpPr>
            <a:spLocks noGrp="1"/>
          </p:cNvSpPr>
          <p:nvPr/>
        </p:nvSpPr>
        <p:spPr>
          <a:xfrm>
            <a:off x="10503707" y="1716175"/>
            <a:ext cx="874644" cy="874644"/>
          </a:xfrm>
          <a:prstGeom prst="ellipse">
            <a:avLst/>
          </a:prstGeom>
          <a:solidFill>
            <a:srgbClr val="148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E45FC9CF-F1A9-F648-B96A-E88C501EE020}"/>
              </a:ext>
            </a:extLst>
          </p:cNvPr>
          <p:cNvSpPr>
            <a:spLocks noGrp="1"/>
          </p:cNvSpPr>
          <p:nvPr/>
        </p:nvSpPr>
        <p:spPr>
          <a:xfrm>
            <a:off x="8239650" y="1982058"/>
            <a:ext cx="2191185" cy="163121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2000" b="1" dirty="0"/>
              <a:t>How the Publishing System Supports Different Roles</a:t>
            </a:r>
            <a:endParaRPr sz="2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8CC33EA1-7C69-F04E-A0A9-8707E47CCA40}"/>
              </a:ext>
            </a:extLst>
          </p:cNvPr>
          <p:cNvSpPr>
            <a:spLocks noGrp="1"/>
          </p:cNvSpPr>
          <p:nvPr/>
        </p:nvSpPr>
        <p:spPr>
          <a:xfrm>
            <a:off x="9090776" y="688854"/>
            <a:ext cx="526968" cy="495979"/>
          </a:xfrm>
          <a:custGeom>
            <a:avLst/>
            <a:gdLst/>
            <a:ahLst/>
            <a:cxnLst/>
            <a:rect l="0" t="0" r="r" b="b"/>
            <a:pathLst>
              <a:path w="21475" h="21503">
                <a:moveTo>
                  <a:pt x="15734" y="20280"/>
                </a:moveTo>
                <a:cubicBezTo>
                  <a:pt x="15227" y="20280"/>
                  <a:pt x="14815" y="19843"/>
                  <a:pt x="14815" y="19303"/>
                </a:cubicBezTo>
                <a:cubicBezTo>
                  <a:pt x="14815" y="18764"/>
                  <a:pt x="15227" y="18326"/>
                  <a:pt x="15734" y="18326"/>
                </a:cubicBezTo>
                <a:cubicBezTo>
                  <a:pt x="16241" y="18326"/>
                  <a:pt x="16652" y="18764"/>
                  <a:pt x="16652" y="19303"/>
                </a:cubicBezTo>
                <a:cubicBezTo>
                  <a:pt x="16652" y="19843"/>
                  <a:pt x="16241" y="20280"/>
                  <a:pt x="15734" y="20280"/>
                </a:cubicBezTo>
                <a:cubicBezTo>
                  <a:pt x="15734" y="20280"/>
                  <a:pt x="15734" y="20280"/>
                  <a:pt x="15734" y="20280"/>
                </a:cubicBezTo>
                <a:close/>
                <a:moveTo>
                  <a:pt x="8153" y="20280"/>
                </a:moveTo>
                <a:cubicBezTo>
                  <a:pt x="7648" y="20280"/>
                  <a:pt x="7235" y="19843"/>
                  <a:pt x="7235" y="19303"/>
                </a:cubicBezTo>
                <a:cubicBezTo>
                  <a:pt x="7235" y="18764"/>
                  <a:pt x="7648" y="18326"/>
                  <a:pt x="8153" y="18326"/>
                </a:cubicBezTo>
                <a:cubicBezTo>
                  <a:pt x="8660" y="18326"/>
                  <a:pt x="9073" y="18764"/>
                  <a:pt x="9073" y="19303"/>
                </a:cubicBezTo>
                <a:cubicBezTo>
                  <a:pt x="9073" y="19843"/>
                  <a:pt x="8660" y="20280"/>
                  <a:pt x="8153" y="20280"/>
                </a:cubicBezTo>
                <a:cubicBezTo>
                  <a:pt x="8153" y="20280"/>
                  <a:pt x="8153" y="20280"/>
                  <a:pt x="8153" y="20280"/>
                </a:cubicBezTo>
                <a:close/>
                <a:moveTo>
                  <a:pt x="21343" y="4089"/>
                </a:moveTo>
                <a:cubicBezTo>
                  <a:pt x="21213" y="3899"/>
                  <a:pt x="21007" y="3787"/>
                  <a:pt x="20786" y="3787"/>
                </a:cubicBezTo>
                <a:lnTo>
                  <a:pt x="7465" y="3787"/>
                </a:lnTo>
                <a:cubicBezTo>
                  <a:pt x="7084" y="3787"/>
                  <a:pt x="6776" y="4115"/>
                  <a:pt x="6776" y="4520"/>
                </a:cubicBezTo>
                <a:cubicBezTo>
                  <a:pt x="6776" y="4925"/>
                  <a:pt x="7084" y="5253"/>
                  <a:pt x="7465" y="5253"/>
                </a:cubicBezTo>
                <a:lnTo>
                  <a:pt x="19842" y="5253"/>
                </a:lnTo>
                <a:lnTo>
                  <a:pt x="19345" y="6902"/>
                </a:lnTo>
                <a:lnTo>
                  <a:pt x="8976" y="6902"/>
                </a:lnTo>
                <a:cubicBezTo>
                  <a:pt x="8596" y="6902"/>
                  <a:pt x="8288" y="7231"/>
                  <a:pt x="8288" y="7636"/>
                </a:cubicBezTo>
                <a:cubicBezTo>
                  <a:pt x="8288" y="8040"/>
                  <a:pt x="8596" y="8368"/>
                  <a:pt x="8976" y="8368"/>
                </a:cubicBezTo>
                <a:lnTo>
                  <a:pt x="18903" y="8368"/>
                </a:lnTo>
                <a:lnTo>
                  <a:pt x="18333" y="10263"/>
                </a:lnTo>
                <a:lnTo>
                  <a:pt x="9780" y="10263"/>
                </a:lnTo>
                <a:cubicBezTo>
                  <a:pt x="9400" y="10263"/>
                  <a:pt x="9092" y="10591"/>
                  <a:pt x="9092" y="10995"/>
                </a:cubicBezTo>
                <a:cubicBezTo>
                  <a:pt x="9092" y="11399"/>
                  <a:pt x="9400" y="11728"/>
                  <a:pt x="9780" y="11728"/>
                </a:cubicBezTo>
                <a:lnTo>
                  <a:pt x="17892" y="11728"/>
                </a:lnTo>
                <a:lnTo>
                  <a:pt x="17412" y="13317"/>
                </a:lnTo>
                <a:lnTo>
                  <a:pt x="8298" y="13317"/>
                </a:lnTo>
                <a:lnTo>
                  <a:pt x="4555" y="1835"/>
                </a:lnTo>
                <a:cubicBezTo>
                  <a:pt x="4489" y="1634"/>
                  <a:pt x="4344" y="1473"/>
                  <a:pt x="4157" y="1394"/>
                </a:cubicBezTo>
                <a:lnTo>
                  <a:pt x="941" y="52"/>
                </a:lnTo>
                <a:cubicBezTo>
                  <a:pt x="587" y="-97"/>
                  <a:pt x="187" y="88"/>
                  <a:pt x="48" y="466"/>
                </a:cubicBezTo>
                <a:cubicBezTo>
                  <a:pt x="-91" y="840"/>
                  <a:pt x="83" y="1266"/>
                  <a:pt x="437" y="1415"/>
                </a:cubicBezTo>
                <a:lnTo>
                  <a:pt x="3357" y="2636"/>
                </a:lnTo>
                <a:lnTo>
                  <a:pt x="6932" y="13598"/>
                </a:lnTo>
                <a:cubicBezTo>
                  <a:pt x="6775" y="13657"/>
                  <a:pt x="6641" y="13785"/>
                  <a:pt x="6580" y="13965"/>
                </a:cubicBezTo>
                <a:lnTo>
                  <a:pt x="5547" y="17020"/>
                </a:lnTo>
                <a:cubicBezTo>
                  <a:pt x="5483" y="17207"/>
                  <a:pt x="5509" y="17414"/>
                  <a:pt x="5616" y="17578"/>
                </a:cubicBezTo>
                <a:cubicBezTo>
                  <a:pt x="5724" y="17741"/>
                  <a:pt x="5900" y="17838"/>
                  <a:pt x="6086" y="17838"/>
                </a:cubicBezTo>
                <a:lnTo>
                  <a:pt x="6618" y="17838"/>
                </a:lnTo>
                <a:cubicBezTo>
                  <a:pt x="6288" y="18227"/>
                  <a:pt x="6086" y="18740"/>
                  <a:pt x="6086" y="19303"/>
                </a:cubicBezTo>
                <a:cubicBezTo>
                  <a:pt x="6086" y="20517"/>
                  <a:pt x="7014" y="21503"/>
                  <a:pt x="8153" y="21503"/>
                </a:cubicBezTo>
                <a:cubicBezTo>
                  <a:pt x="9293" y="21503"/>
                  <a:pt x="10221" y="20517"/>
                  <a:pt x="10221" y="19303"/>
                </a:cubicBezTo>
                <a:cubicBezTo>
                  <a:pt x="10221" y="18740"/>
                  <a:pt x="10019" y="18227"/>
                  <a:pt x="9690" y="17838"/>
                </a:cubicBezTo>
                <a:lnTo>
                  <a:pt x="14197" y="17838"/>
                </a:lnTo>
                <a:cubicBezTo>
                  <a:pt x="13868" y="18227"/>
                  <a:pt x="13667" y="18740"/>
                  <a:pt x="13667" y="19303"/>
                </a:cubicBezTo>
                <a:cubicBezTo>
                  <a:pt x="13667" y="20517"/>
                  <a:pt x="14593" y="21503"/>
                  <a:pt x="15734" y="21503"/>
                </a:cubicBezTo>
                <a:cubicBezTo>
                  <a:pt x="16873" y="21503"/>
                  <a:pt x="17801" y="20517"/>
                  <a:pt x="17801" y="19303"/>
                </a:cubicBezTo>
                <a:cubicBezTo>
                  <a:pt x="17801" y="18740"/>
                  <a:pt x="17599" y="18227"/>
                  <a:pt x="17270" y="17838"/>
                </a:cubicBezTo>
                <a:lnTo>
                  <a:pt x="17915" y="17838"/>
                </a:lnTo>
                <a:cubicBezTo>
                  <a:pt x="18232" y="17838"/>
                  <a:pt x="18489" y="17564"/>
                  <a:pt x="18489" y="17225"/>
                </a:cubicBezTo>
                <a:cubicBezTo>
                  <a:pt x="18489" y="16890"/>
                  <a:pt x="18232" y="16616"/>
                  <a:pt x="17915" y="16616"/>
                </a:cubicBezTo>
                <a:lnTo>
                  <a:pt x="6904" y="16616"/>
                </a:lnTo>
                <a:lnTo>
                  <a:pt x="7543" y="14724"/>
                </a:lnTo>
                <a:cubicBezTo>
                  <a:pt x="7626" y="14761"/>
                  <a:pt x="7717" y="14782"/>
                  <a:pt x="7809" y="14782"/>
                </a:cubicBezTo>
                <a:lnTo>
                  <a:pt x="17915" y="14782"/>
                </a:lnTo>
                <a:cubicBezTo>
                  <a:pt x="18215" y="14782"/>
                  <a:pt x="18481" y="14578"/>
                  <a:pt x="18571" y="14274"/>
                </a:cubicBezTo>
                <a:lnTo>
                  <a:pt x="21442" y="4743"/>
                </a:lnTo>
                <a:cubicBezTo>
                  <a:pt x="21509" y="4520"/>
                  <a:pt x="21472" y="4277"/>
                  <a:pt x="21343" y="4089"/>
                </a:cubicBezTo>
                <a:cubicBezTo>
                  <a:pt x="21343" y="4089"/>
                  <a:pt x="21343" y="4089"/>
                  <a:pt x="21343" y="4089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19051" tIns="19051" rIns="19051" bIns="19051" anchor="ctr"/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</a:defRPr>
            </a:pPr>
            <a:endParaRPr/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7708B630-0A4F-0E44-8D2A-B16B98DA8225}"/>
              </a:ext>
            </a:extLst>
          </p:cNvPr>
          <p:cNvSpPr>
            <a:spLocks noGrp="1"/>
          </p:cNvSpPr>
          <p:nvPr/>
        </p:nvSpPr>
        <p:spPr>
          <a:xfrm>
            <a:off x="10460165" y="3769525"/>
            <a:ext cx="538358" cy="415219"/>
          </a:xfrm>
          <a:custGeom>
            <a:avLst/>
            <a:gdLst/>
            <a:ahLst/>
            <a:cxnLst/>
            <a:rect l="0" t="0" r="r" b="b"/>
            <a:pathLst>
              <a:path w="21459" h="21600">
                <a:moveTo>
                  <a:pt x="10742" y="0"/>
                </a:moveTo>
                <a:cubicBezTo>
                  <a:pt x="6767" y="0"/>
                  <a:pt x="3022" y="1994"/>
                  <a:pt x="212" y="5662"/>
                </a:cubicBezTo>
                <a:cubicBezTo>
                  <a:pt x="-71" y="6032"/>
                  <a:pt x="-71" y="6630"/>
                  <a:pt x="212" y="6999"/>
                </a:cubicBezTo>
                <a:cubicBezTo>
                  <a:pt x="495" y="7368"/>
                  <a:pt x="952" y="7368"/>
                  <a:pt x="1235" y="6999"/>
                </a:cubicBezTo>
                <a:cubicBezTo>
                  <a:pt x="3773" y="3688"/>
                  <a:pt x="7154" y="1877"/>
                  <a:pt x="10742" y="1877"/>
                </a:cubicBezTo>
                <a:cubicBezTo>
                  <a:pt x="14331" y="1877"/>
                  <a:pt x="17687" y="3688"/>
                  <a:pt x="20223" y="6999"/>
                </a:cubicBezTo>
                <a:cubicBezTo>
                  <a:pt x="20365" y="7183"/>
                  <a:pt x="20549" y="7285"/>
                  <a:pt x="20735" y="7285"/>
                </a:cubicBezTo>
                <a:cubicBezTo>
                  <a:pt x="20920" y="7285"/>
                  <a:pt x="21105" y="7183"/>
                  <a:pt x="21247" y="6999"/>
                </a:cubicBezTo>
                <a:cubicBezTo>
                  <a:pt x="21529" y="6630"/>
                  <a:pt x="21529" y="6032"/>
                  <a:pt x="21247" y="5662"/>
                </a:cubicBezTo>
                <a:cubicBezTo>
                  <a:pt x="18435" y="1994"/>
                  <a:pt x="14717" y="0"/>
                  <a:pt x="10742" y="0"/>
                </a:cubicBezTo>
                <a:close/>
                <a:moveTo>
                  <a:pt x="10766" y="4072"/>
                </a:moveTo>
                <a:cubicBezTo>
                  <a:pt x="7791" y="4072"/>
                  <a:pt x="4816" y="5538"/>
                  <a:pt x="2552" y="8494"/>
                </a:cubicBezTo>
                <a:cubicBezTo>
                  <a:pt x="2269" y="8863"/>
                  <a:pt x="2269" y="9460"/>
                  <a:pt x="2552" y="9830"/>
                </a:cubicBezTo>
                <a:cubicBezTo>
                  <a:pt x="2834" y="10199"/>
                  <a:pt x="3292" y="10199"/>
                  <a:pt x="3575" y="9830"/>
                </a:cubicBezTo>
                <a:cubicBezTo>
                  <a:pt x="7539" y="4657"/>
                  <a:pt x="13993" y="4657"/>
                  <a:pt x="17957" y="9830"/>
                </a:cubicBezTo>
                <a:cubicBezTo>
                  <a:pt x="18098" y="10015"/>
                  <a:pt x="18282" y="10116"/>
                  <a:pt x="18468" y="10116"/>
                </a:cubicBezTo>
                <a:cubicBezTo>
                  <a:pt x="18653" y="10116"/>
                  <a:pt x="18839" y="10015"/>
                  <a:pt x="18980" y="9830"/>
                </a:cubicBezTo>
                <a:cubicBezTo>
                  <a:pt x="19264" y="9460"/>
                  <a:pt x="19264" y="8863"/>
                  <a:pt x="18980" y="8494"/>
                </a:cubicBezTo>
                <a:cubicBezTo>
                  <a:pt x="16716" y="5538"/>
                  <a:pt x="13741" y="4072"/>
                  <a:pt x="10766" y="4072"/>
                </a:cubicBezTo>
                <a:close/>
                <a:moveTo>
                  <a:pt x="11327" y="9162"/>
                </a:moveTo>
                <a:cubicBezTo>
                  <a:pt x="9188" y="9162"/>
                  <a:pt x="7184" y="10242"/>
                  <a:pt x="5672" y="12216"/>
                </a:cubicBezTo>
                <a:cubicBezTo>
                  <a:pt x="5389" y="12584"/>
                  <a:pt x="5389" y="13182"/>
                  <a:pt x="5672" y="13552"/>
                </a:cubicBezTo>
                <a:cubicBezTo>
                  <a:pt x="5812" y="13737"/>
                  <a:pt x="5998" y="13838"/>
                  <a:pt x="6183" y="13838"/>
                </a:cubicBezTo>
                <a:cubicBezTo>
                  <a:pt x="6368" y="13838"/>
                  <a:pt x="6554" y="13737"/>
                  <a:pt x="6695" y="13552"/>
                </a:cubicBezTo>
                <a:cubicBezTo>
                  <a:pt x="7934" y="11936"/>
                  <a:pt x="9575" y="11039"/>
                  <a:pt x="11327" y="11039"/>
                </a:cubicBezTo>
                <a:cubicBezTo>
                  <a:pt x="13079" y="11039"/>
                  <a:pt x="14743" y="11936"/>
                  <a:pt x="15982" y="13552"/>
                </a:cubicBezTo>
                <a:cubicBezTo>
                  <a:pt x="16266" y="13921"/>
                  <a:pt x="16723" y="13921"/>
                  <a:pt x="17006" y="13552"/>
                </a:cubicBezTo>
                <a:cubicBezTo>
                  <a:pt x="17289" y="13182"/>
                  <a:pt x="17289" y="12585"/>
                  <a:pt x="17006" y="12216"/>
                </a:cubicBezTo>
                <a:cubicBezTo>
                  <a:pt x="15494" y="10242"/>
                  <a:pt x="13467" y="9162"/>
                  <a:pt x="11327" y="9162"/>
                </a:cubicBezTo>
                <a:close/>
                <a:moveTo>
                  <a:pt x="11010" y="13234"/>
                </a:moveTo>
                <a:cubicBezTo>
                  <a:pt x="9236" y="13234"/>
                  <a:pt x="7792" y="15119"/>
                  <a:pt x="7792" y="17433"/>
                </a:cubicBezTo>
                <a:cubicBezTo>
                  <a:pt x="7792" y="19748"/>
                  <a:pt x="9236" y="21600"/>
                  <a:pt x="11010" y="21600"/>
                </a:cubicBezTo>
                <a:cubicBezTo>
                  <a:pt x="12784" y="21600"/>
                  <a:pt x="14227" y="19748"/>
                  <a:pt x="14227" y="17433"/>
                </a:cubicBezTo>
                <a:cubicBezTo>
                  <a:pt x="14227" y="15119"/>
                  <a:pt x="12784" y="13234"/>
                  <a:pt x="11010" y="13234"/>
                </a:cubicBezTo>
                <a:close/>
                <a:moveTo>
                  <a:pt x="11010" y="15110"/>
                </a:moveTo>
                <a:cubicBezTo>
                  <a:pt x="11984" y="15110"/>
                  <a:pt x="12789" y="16162"/>
                  <a:pt x="12789" y="17433"/>
                </a:cubicBezTo>
                <a:cubicBezTo>
                  <a:pt x="12789" y="18706"/>
                  <a:pt x="11984" y="19723"/>
                  <a:pt x="11010" y="19723"/>
                </a:cubicBezTo>
                <a:cubicBezTo>
                  <a:pt x="10035" y="19723"/>
                  <a:pt x="9255" y="18706"/>
                  <a:pt x="9255" y="17433"/>
                </a:cubicBezTo>
                <a:cubicBezTo>
                  <a:pt x="9255" y="16162"/>
                  <a:pt x="10035" y="15110"/>
                  <a:pt x="11010" y="15110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19051" tIns="19051" rIns="19051" bIns="19051" anchor="ctr"/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</a:defRPr>
            </a:pPr>
            <a:endParaRPr/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E6355D2D-3EAD-F94D-ADA2-1D0846CD3053}"/>
              </a:ext>
            </a:extLst>
          </p:cNvPr>
          <p:cNvSpPr>
            <a:spLocks noGrp="1"/>
          </p:cNvSpPr>
          <p:nvPr/>
        </p:nvSpPr>
        <p:spPr>
          <a:xfrm>
            <a:off x="10778929" y="1902124"/>
            <a:ext cx="344665" cy="495980"/>
          </a:xfrm>
          <a:custGeom>
            <a:avLst/>
            <a:gdLst/>
            <a:ahLst/>
            <a:cxnLst/>
            <a:rect l="0" t="0" r="r" b="b"/>
            <a:pathLst>
              <a:path w="21584" h="21600">
                <a:moveTo>
                  <a:pt x="10807" y="0"/>
                </a:moveTo>
                <a:cubicBezTo>
                  <a:pt x="4853" y="0"/>
                  <a:pt x="0" y="3353"/>
                  <a:pt x="0" y="7494"/>
                </a:cubicBezTo>
                <a:cubicBezTo>
                  <a:pt x="0" y="9576"/>
                  <a:pt x="989" y="10803"/>
                  <a:pt x="1858" y="11866"/>
                </a:cubicBezTo>
                <a:cubicBezTo>
                  <a:pt x="2615" y="12795"/>
                  <a:pt x="3351" y="13658"/>
                  <a:pt x="3592" y="15247"/>
                </a:cubicBezTo>
                <a:cubicBezTo>
                  <a:pt x="3657" y="16188"/>
                  <a:pt x="4748" y="16927"/>
                  <a:pt x="6100" y="16927"/>
                </a:cubicBezTo>
                <a:lnTo>
                  <a:pt x="15483" y="16927"/>
                </a:lnTo>
                <a:cubicBezTo>
                  <a:pt x="16386" y="16938"/>
                  <a:pt x="17230" y="16614"/>
                  <a:pt x="17682" y="16087"/>
                </a:cubicBezTo>
                <a:cubicBezTo>
                  <a:pt x="17971" y="15751"/>
                  <a:pt x="18021" y="15365"/>
                  <a:pt x="18053" y="15096"/>
                </a:cubicBezTo>
                <a:cubicBezTo>
                  <a:pt x="18053" y="15063"/>
                  <a:pt x="18084" y="15032"/>
                  <a:pt x="18084" y="15010"/>
                </a:cubicBezTo>
                <a:cubicBezTo>
                  <a:pt x="18356" y="13589"/>
                  <a:pt x="19048" y="12761"/>
                  <a:pt x="19757" y="11888"/>
                </a:cubicBezTo>
                <a:cubicBezTo>
                  <a:pt x="20626" y="10823"/>
                  <a:pt x="21584" y="9598"/>
                  <a:pt x="21584" y="7516"/>
                </a:cubicBezTo>
                <a:cubicBezTo>
                  <a:pt x="21600" y="3352"/>
                  <a:pt x="16762" y="0"/>
                  <a:pt x="10807" y="0"/>
                </a:cubicBezTo>
                <a:close/>
                <a:moveTo>
                  <a:pt x="10807" y="1120"/>
                </a:moveTo>
                <a:cubicBezTo>
                  <a:pt x="15877" y="1120"/>
                  <a:pt x="20004" y="3969"/>
                  <a:pt x="20004" y="7494"/>
                </a:cubicBezTo>
                <a:cubicBezTo>
                  <a:pt x="20004" y="10864"/>
                  <a:pt x="17167" y="11357"/>
                  <a:pt x="16474" y="14838"/>
                </a:cubicBezTo>
                <a:cubicBezTo>
                  <a:pt x="16442" y="15028"/>
                  <a:pt x="16417" y="15338"/>
                  <a:pt x="16288" y="15505"/>
                </a:cubicBezTo>
                <a:cubicBezTo>
                  <a:pt x="16130" y="15696"/>
                  <a:pt x="15853" y="15807"/>
                  <a:pt x="15514" y="15807"/>
                </a:cubicBezTo>
                <a:lnTo>
                  <a:pt x="6100" y="15807"/>
                </a:lnTo>
                <a:cubicBezTo>
                  <a:pt x="5586" y="15807"/>
                  <a:pt x="5202" y="15530"/>
                  <a:pt x="5202" y="15182"/>
                </a:cubicBezTo>
                <a:cubicBezTo>
                  <a:pt x="4638" y="11389"/>
                  <a:pt x="1610" y="10986"/>
                  <a:pt x="1610" y="7516"/>
                </a:cubicBezTo>
                <a:cubicBezTo>
                  <a:pt x="1610" y="3979"/>
                  <a:pt x="5738" y="1120"/>
                  <a:pt x="10807" y="1120"/>
                </a:cubicBezTo>
                <a:close/>
                <a:moveTo>
                  <a:pt x="15081" y="2757"/>
                </a:moveTo>
                <a:cubicBezTo>
                  <a:pt x="15028" y="2748"/>
                  <a:pt x="14945" y="2794"/>
                  <a:pt x="14833" y="2929"/>
                </a:cubicBezTo>
                <a:cubicBezTo>
                  <a:pt x="14334" y="3533"/>
                  <a:pt x="13530" y="4032"/>
                  <a:pt x="12758" y="4458"/>
                </a:cubicBezTo>
                <a:cubicBezTo>
                  <a:pt x="11519" y="5129"/>
                  <a:pt x="10241" y="5751"/>
                  <a:pt x="9228" y="6590"/>
                </a:cubicBezTo>
                <a:cubicBezTo>
                  <a:pt x="7941" y="7676"/>
                  <a:pt x="7658" y="9199"/>
                  <a:pt x="8237" y="10531"/>
                </a:cubicBezTo>
                <a:cubicBezTo>
                  <a:pt x="8366" y="10821"/>
                  <a:pt x="8571" y="10822"/>
                  <a:pt x="8733" y="10531"/>
                </a:cubicBezTo>
                <a:cubicBezTo>
                  <a:pt x="9086" y="9827"/>
                  <a:pt x="9649" y="9142"/>
                  <a:pt x="10343" y="8571"/>
                </a:cubicBezTo>
                <a:cubicBezTo>
                  <a:pt x="11630" y="7497"/>
                  <a:pt x="13246" y="6605"/>
                  <a:pt x="14245" y="5362"/>
                </a:cubicBezTo>
                <a:cubicBezTo>
                  <a:pt x="14808" y="4658"/>
                  <a:pt x="15061" y="3822"/>
                  <a:pt x="15143" y="2993"/>
                </a:cubicBezTo>
                <a:cubicBezTo>
                  <a:pt x="15159" y="2837"/>
                  <a:pt x="15133" y="2765"/>
                  <a:pt x="15081" y="2757"/>
                </a:cubicBezTo>
                <a:close/>
                <a:moveTo>
                  <a:pt x="15576" y="5513"/>
                </a:moveTo>
                <a:cubicBezTo>
                  <a:pt x="15504" y="5512"/>
                  <a:pt x="15402" y="5583"/>
                  <a:pt x="15328" y="5728"/>
                </a:cubicBezTo>
                <a:cubicBezTo>
                  <a:pt x="14574" y="7206"/>
                  <a:pt x="12644" y="8217"/>
                  <a:pt x="11148" y="9346"/>
                </a:cubicBezTo>
                <a:cubicBezTo>
                  <a:pt x="10326" y="9962"/>
                  <a:pt x="9768" y="10736"/>
                  <a:pt x="9414" y="11565"/>
                </a:cubicBezTo>
                <a:cubicBezTo>
                  <a:pt x="8964" y="12460"/>
                  <a:pt x="8819" y="13445"/>
                  <a:pt x="9011" y="14407"/>
                </a:cubicBezTo>
                <a:cubicBezTo>
                  <a:pt x="9091" y="14766"/>
                  <a:pt x="9866" y="14604"/>
                  <a:pt x="9785" y="14256"/>
                </a:cubicBezTo>
                <a:cubicBezTo>
                  <a:pt x="9625" y="13484"/>
                  <a:pt x="9711" y="12723"/>
                  <a:pt x="10033" y="11995"/>
                </a:cubicBezTo>
                <a:cubicBezTo>
                  <a:pt x="10934" y="11446"/>
                  <a:pt x="12211" y="11154"/>
                  <a:pt x="13161" y="10638"/>
                </a:cubicBezTo>
                <a:cubicBezTo>
                  <a:pt x="14659" y="9832"/>
                  <a:pt x="15692" y="8804"/>
                  <a:pt x="15855" y="7473"/>
                </a:cubicBezTo>
                <a:cubicBezTo>
                  <a:pt x="15953" y="6901"/>
                  <a:pt x="15893" y="6310"/>
                  <a:pt x="15731" y="5728"/>
                </a:cubicBezTo>
                <a:cubicBezTo>
                  <a:pt x="15691" y="5577"/>
                  <a:pt x="15648" y="5514"/>
                  <a:pt x="15576" y="5513"/>
                </a:cubicBezTo>
                <a:close/>
                <a:moveTo>
                  <a:pt x="6472" y="17917"/>
                </a:moveTo>
                <a:cubicBezTo>
                  <a:pt x="5650" y="17917"/>
                  <a:pt x="4955" y="18287"/>
                  <a:pt x="4955" y="18736"/>
                </a:cubicBezTo>
                <a:cubicBezTo>
                  <a:pt x="4955" y="19183"/>
                  <a:pt x="5634" y="19533"/>
                  <a:pt x="6472" y="19533"/>
                </a:cubicBezTo>
                <a:lnTo>
                  <a:pt x="15421" y="19533"/>
                </a:lnTo>
                <a:cubicBezTo>
                  <a:pt x="16243" y="19533"/>
                  <a:pt x="16908" y="19183"/>
                  <a:pt x="16908" y="18736"/>
                </a:cubicBezTo>
                <a:cubicBezTo>
                  <a:pt x="16908" y="18276"/>
                  <a:pt x="16243" y="17917"/>
                  <a:pt x="15421" y="17917"/>
                </a:cubicBezTo>
                <a:lnTo>
                  <a:pt x="6472" y="17917"/>
                </a:lnTo>
                <a:close/>
                <a:moveTo>
                  <a:pt x="6472" y="19985"/>
                </a:moveTo>
                <a:cubicBezTo>
                  <a:pt x="5650" y="19985"/>
                  <a:pt x="4955" y="20355"/>
                  <a:pt x="4955" y="20803"/>
                </a:cubicBezTo>
                <a:cubicBezTo>
                  <a:pt x="4955" y="21251"/>
                  <a:pt x="5634" y="21600"/>
                  <a:pt x="6472" y="21600"/>
                </a:cubicBezTo>
                <a:lnTo>
                  <a:pt x="15421" y="21600"/>
                </a:lnTo>
                <a:cubicBezTo>
                  <a:pt x="16243" y="21600"/>
                  <a:pt x="16908" y="21251"/>
                  <a:pt x="16908" y="20803"/>
                </a:cubicBezTo>
                <a:cubicBezTo>
                  <a:pt x="16908" y="20355"/>
                  <a:pt x="16243" y="19985"/>
                  <a:pt x="15421" y="19985"/>
                </a:cubicBezTo>
                <a:lnTo>
                  <a:pt x="6472" y="19985"/>
                </a:lnTo>
                <a:close/>
              </a:path>
            </a:pathLst>
          </a:custGeom>
          <a:solidFill>
            <a:srgbClr val="FFFFFF"/>
          </a:solidFill>
          <a:ln w="12700"/>
        </p:spPr>
        <p:txBody>
          <a:bodyPr lIns="19051" tIns="19051" rIns="19051" bIns="19051" anchor="ctr"/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</a:defRPr>
            </a:pPr>
            <a:endParaRPr/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D94E03C6-D60C-C78E-47D4-E14829A7764D}"/>
              </a:ext>
            </a:extLst>
          </p:cNvPr>
          <p:cNvSpPr>
            <a:spLocks noGrp="1"/>
          </p:cNvSpPr>
          <p:nvPr/>
        </p:nvSpPr>
        <p:spPr>
          <a:xfrm>
            <a:off x="-63678" y="454084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C8FE7BD5-DF8B-8E4D-8C1F-14BC1B6E542C}"/>
              </a:ext>
            </a:extLst>
          </p:cNvPr>
          <p:cNvSpPr>
            <a:spLocks noGrp="1"/>
          </p:cNvSpPr>
          <p:nvPr/>
        </p:nvSpPr>
        <p:spPr>
          <a:xfrm flipH="1">
            <a:off x="1514474" y="1025372"/>
            <a:ext cx="9525" cy="5832628"/>
          </a:xfrm>
          <a:prstGeom prst="line">
            <a:avLst/>
          </a:prstGeom>
          <a:ln>
            <a:solidFill>
              <a:srgbClr val="1D5C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9F9D5777-60EC-55B6-D41A-77DD4A0FBED2}"/>
              </a:ext>
            </a:extLst>
          </p:cNvPr>
          <p:cNvSpPr>
            <a:spLocks noGrp="1"/>
          </p:cNvSpPr>
          <p:nvPr/>
        </p:nvSpPr>
        <p:spPr>
          <a:xfrm>
            <a:off x="1023204" y="1646939"/>
            <a:ext cx="967407" cy="967407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演示研究所 SlideLab.cc">
            <a:extLst>
              <a:ext uri="{FF2B5EF4-FFF2-40B4-BE49-F238E27FC236}">
                <a16:creationId xmlns:a16="http://schemas.microsoft.com/office/drawing/2014/main" id="{A4936D5E-1DA7-912B-3D91-33D1C6F1F1FC}"/>
              </a:ext>
            </a:extLst>
          </p:cNvPr>
          <p:cNvSpPr>
            <a:spLocks noGrp="1"/>
          </p:cNvSpPr>
          <p:nvPr/>
        </p:nvSpPr>
        <p:spPr>
          <a:xfrm>
            <a:off x="1049707" y="4236879"/>
            <a:ext cx="967407" cy="967407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演示研究所 SlideLab.cc">
            <a:extLst>
              <a:ext uri="{FF2B5EF4-FFF2-40B4-BE49-F238E27FC236}">
                <a16:creationId xmlns:a16="http://schemas.microsoft.com/office/drawing/2014/main" id="{0AF1ACDB-7049-34CF-B871-E6EFD96324F8}"/>
              </a:ext>
            </a:extLst>
          </p:cNvPr>
          <p:cNvSpPr>
            <a:spLocks noGrp="1"/>
          </p:cNvSpPr>
          <p:nvPr/>
        </p:nvSpPr>
        <p:spPr>
          <a:xfrm>
            <a:off x="1028568" y="2941909"/>
            <a:ext cx="967407" cy="967407"/>
          </a:xfrm>
          <a:prstGeom prst="ellipse">
            <a:avLst/>
          </a:prstGeom>
          <a:solidFill>
            <a:srgbClr val="148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8" name="演示研究所 SlideLab.cc">
            <a:extLst>
              <a:ext uri="{FF2B5EF4-FFF2-40B4-BE49-F238E27FC236}">
                <a16:creationId xmlns:a16="http://schemas.microsoft.com/office/drawing/2014/main" id="{9B9E6B19-46E8-B805-FA6B-B1374A9A5D55}"/>
              </a:ext>
            </a:extLst>
          </p:cNvPr>
          <p:cNvSpPr>
            <a:spLocks noGrp="1"/>
          </p:cNvSpPr>
          <p:nvPr/>
        </p:nvSpPr>
        <p:spPr>
          <a:xfrm>
            <a:off x="2156471" y="1705764"/>
            <a:ext cx="6693580" cy="95410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zh-CN" altLang="zh-CN" sz="1400" b="1" dirty="0"/>
              <a:t>Role-Based Access Control</a:t>
            </a:r>
          </a:p>
          <a:p>
            <a:r>
              <a:rPr lang="zh-CN" altLang="zh-CN" sz="1400" dirty="0"/>
              <a:t>Trainers and Creators receive different permissions. </a:t>
            </a:r>
          </a:p>
          <a:p>
            <a:r>
              <a:rPr lang="zh-CN" altLang="zh-CN" sz="1400" dirty="0"/>
              <a:t>Unapproved Members cannot access publishing tools. </a:t>
            </a:r>
          </a:p>
          <a:p>
            <a:r>
              <a:rPr lang="zh-CN" altLang="zh-CN" sz="1400" dirty="0"/>
              <a:t>This reduces the risk of unreviewed content entering the platform.</a:t>
            </a:r>
          </a:p>
        </p:txBody>
      </p:sp>
      <p:sp>
        <p:nvSpPr>
          <p:cNvPr id="40" name="演示研究所 SlideLab.cc">
            <a:extLst>
              <a:ext uri="{FF2B5EF4-FFF2-40B4-BE49-F238E27FC236}">
                <a16:creationId xmlns:a16="http://schemas.microsoft.com/office/drawing/2014/main" id="{A6EE9232-252D-F4CC-23CF-EE0701B72648}"/>
              </a:ext>
            </a:extLst>
          </p:cNvPr>
          <p:cNvSpPr>
            <a:spLocks noGrp="1"/>
          </p:cNvSpPr>
          <p:nvPr/>
        </p:nvSpPr>
        <p:spPr>
          <a:xfrm>
            <a:off x="2184419" y="2899916"/>
            <a:ext cx="7467801" cy="107721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zh-CN" altLang="zh-CN" sz="1600" b="1" dirty="0">
                <a:solidFill>
                  <a:srgbClr val="0070C0"/>
                </a:solidFill>
              </a:rPr>
              <a:t>Structured Editing Tools</a:t>
            </a:r>
          </a:p>
          <a:p>
            <a:r>
              <a:rPr lang="zh-CN" altLang="zh-CN" sz="1600" dirty="0">
                <a:solidFill>
                  <a:srgbClr val="0070C0"/>
                </a:solidFill>
              </a:rPr>
              <a:t>Editors guide users through the required information. </a:t>
            </a:r>
          </a:p>
          <a:p>
            <a:r>
              <a:rPr lang="zh-CN" altLang="zh-CN" sz="1600" dirty="0">
                <a:solidFill>
                  <a:srgbClr val="0070C0"/>
                </a:solidFill>
              </a:rPr>
              <a:t>Course and content information is checked before publishing. </a:t>
            </a:r>
          </a:p>
          <a:p>
            <a:r>
              <a:rPr lang="zh-CN" altLang="zh-CN" sz="1600" dirty="0">
                <a:solidFill>
                  <a:srgbClr val="0070C0"/>
                </a:solidFill>
              </a:rPr>
              <a:t>This reduces missing prices, schedules or course modules.</a:t>
            </a:r>
          </a:p>
        </p:txBody>
      </p:sp>
      <p:sp>
        <p:nvSpPr>
          <p:cNvPr id="42" name="演示研究所 SlideLab.cc">
            <a:extLst>
              <a:ext uri="{FF2B5EF4-FFF2-40B4-BE49-F238E27FC236}">
                <a16:creationId xmlns:a16="http://schemas.microsoft.com/office/drawing/2014/main" id="{381231FC-B880-5439-35B1-97BA1A2C3493}"/>
              </a:ext>
            </a:extLst>
          </p:cNvPr>
          <p:cNvSpPr>
            <a:spLocks noGrp="1"/>
          </p:cNvSpPr>
          <p:nvPr/>
        </p:nvSpPr>
        <p:spPr>
          <a:xfrm>
            <a:off x="2328344" y="4242064"/>
            <a:ext cx="7002724" cy="107721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zh-CN" altLang="zh-CN" sz="1600" b="1" dirty="0"/>
              <a:t>Flexible Delivery Formats</a:t>
            </a:r>
          </a:p>
          <a:p>
            <a:r>
              <a:rPr lang="zh-CN" altLang="zh-CN" sz="1600" dirty="0"/>
              <a:t>Online and offline courses are supported. </a:t>
            </a:r>
          </a:p>
          <a:p>
            <a:r>
              <a:rPr lang="zh-CN" altLang="zh-CN" sz="1600" dirty="0"/>
              <a:t>Trainers can create single sessions or course series. </a:t>
            </a:r>
          </a:p>
          <a:p>
            <a:r>
              <a:rPr lang="zh-CN" altLang="zh-CN" sz="1600" dirty="0"/>
              <a:t>External links, live delivery and replay settings are supported.</a:t>
            </a:r>
          </a:p>
        </p:txBody>
      </p:sp>
      <p:sp>
        <p:nvSpPr>
          <p:cNvPr id="44" name="演示研究所 SlideLab.cc">
            <a:extLst>
              <a:ext uri="{FF2B5EF4-FFF2-40B4-BE49-F238E27FC236}">
                <a16:creationId xmlns:a16="http://schemas.microsoft.com/office/drawing/2014/main" id="{EA1DFB00-1E4B-CC96-8F99-8FA5266783FA}"/>
              </a:ext>
            </a:extLst>
          </p:cNvPr>
          <p:cNvSpPr>
            <a:spLocks noGrp="1"/>
          </p:cNvSpPr>
          <p:nvPr/>
        </p:nvSpPr>
        <p:spPr>
          <a:xfrm>
            <a:off x="1030770" y="5531849"/>
            <a:ext cx="967407" cy="967407"/>
          </a:xfrm>
          <a:prstGeom prst="ellipse">
            <a:avLst/>
          </a:prstGeom>
          <a:solidFill>
            <a:srgbClr val="148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46" name="演示研究所 SlideLab.cc">
            <a:extLst>
              <a:ext uri="{FF2B5EF4-FFF2-40B4-BE49-F238E27FC236}">
                <a16:creationId xmlns:a16="http://schemas.microsoft.com/office/drawing/2014/main" id="{09E34DCD-39B9-A804-F924-F3723669C2A8}"/>
              </a:ext>
            </a:extLst>
          </p:cNvPr>
          <p:cNvSpPr>
            <a:spLocks noGrp="1"/>
          </p:cNvSpPr>
          <p:nvPr/>
        </p:nvSpPr>
        <p:spPr>
          <a:xfrm>
            <a:off x="2328343" y="5563374"/>
            <a:ext cx="7618875" cy="107721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zh-CN" altLang="zh-CN" sz="1600" b="1" dirty="0">
                <a:solidFill>
                  <a:srgbClr val="0070C0"/>
                </a:solidFill>
              </a:rPr>
              <a:t>Complete Publishing Management</a:t>
            </a:r>
          </a:p>
          <a:p>
            <a:r>
              <a:rPr lang="zh-CN" altLang="zh-CN" sz="1600" dirty="0">
                <a:solidFill>
                  <a:srgbClr val="0070C0"/>
                </a:solidFill>
              </a:rPr>
              <a:t>Resources can be saved as drafts. </a:t>
            </a:r>
          </a:p>
          <a:p>
            <a:r>
              <a:rPr lang="zh-CN" altLang="zh-CN" sz="1600" dirty="0">
                <a:solidFill>
                  <a:srgbClr val="0070C0"/>
                </a:solidFill>
              </a:rPr>
              <a:t>Published items can be updated later. </a:t>
            </a:r>
          </a:p>
          <a:p>
            <a:r>
              <a:rPr lang="zh-CN" altLang="zh-CN" sz="1600" dirty="0">
                <a:solidFill>
                  <a:srgbClr val="0070C0"/>
                </a:solidFill>
              </a:rPr>
              <a:t>Trainers and Creators can manage their published resources.</a:t>
            </a:r>
          </a:p>
        </p:txBody>
      </p:sp>
      <p:sp>
        <p:nvSpPr>
          <p:cNvPr id="50" name="演示研究所 SlideLab.cc">
            <a:extLst>
              <a:ext uri="{FF2B5EF4-FFF2-40B4-BE49-F238E27FC236}">
                <a16:creationId xmlns:a16="http://schemas.microsoft.com/office/drawing/2014/main" id="{5FEBF75D-64E1-5A89-9CBB-F46E8113B29D}"/>
              </a:ext>
            </a:extLst>
          </p:cNvPr>
          <p:cNvSpPr>
            <a:spLocks noGrp="1"/>
          </p:cNvSpPr>
          <p:nvPr/>
        </p:nvSpPr>
        <p:spPr>
          <a:xfrm flipV="1">
            <a:off x="10898036" y="380191"/>
            <a:ext cx="898750" cy="681320"/>
          </a:xfrm>
          <a:custGeom>
            <a:avLst/>
            <a:gdLst/>
            <a:ahLst/>
            <a:cxnLst/>
            <a:rect l="l" t="t" r="r" b="b"/>
            <a:pathLst>
              <a:path w="1077550" h="816864">
                <a:moveTo>
                  <a:pt x="826831" y="0"/>
                </a:moveTo>
                <a:lnTo>
                  <a:pt x="0" y="816864"/>
                </a:lnTo>
                <a:lnTo>
                  <a:pt x="1077550" y="738221"/>
                </a:lnTo>
                <a:lnTo>
                  <a:pt x="847372" y="504151"/>
                </a:lnTo>
                <a:lnTo>
                  <a:pt x="826831" y="0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2" name="演示研究所 SlideLab.cc">
            <a:extLst>
              <a:ext uri="{FF2B5EF4-FFF2-40B4-BE49-F238E27FC236}">
                <a16:creationId xmlns:a16="http://schemas.microsoft.com/office/drawing/2014/main" id="{D765E679-ABBD-908E-4999-D856EDD19BC5}"/>
              </a:ext>
            </a:extLst>
          </p:cNvPr>
          <p:cNvSpPr>
            <a:spLocks noGrp="1"/>
          </p:cNvSpPr>
          <p:nvPr/>
        </p:nvSpPr>
        <p:spPr>
          <a:xfrm rot="21316033" flipV="1">
            <a:off x="10908925" y="342458"/>
            <a:ext cx="940067" cy="442339"/>
          </a:xfrm>
          <a:custGeom>
            <a:avLst/>
            <a:gdLst/>
            <a:ahLst/>
            <a:cxnLst/>
            <a:rect l="l" t="t" r="r" b="b"/>
            <a:pathLst>
              <a:path w="1127086" h="530340">
                <a:moveTo>
                  <a:pt x="0" y="530341"/>
                </a:moveTo>
                <a:lnTo>
                  <a:pt x="1127086" y="129609"/>
                </a:lnTo>
                <a:lnTo>
                  <a:pt x="784637" y="0"/>
                </a:lnTo>
                <a:lnTo>
                  <a:pt x="0" y="530341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9505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8C91-8E47-795A-22C6-5E2A6D5A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>
            <a:extLst>
              <a:ext uri="{FF2B5EF4-FFF2-40B4-BE49-F238E27FC236}">
                <a16:creationId xmlns:a16="http://schemas.microsoft.com/office/drawing/2014/main" id="{6CBAFA7C-12E2-96E3-D1DF-AB81943D5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891C7769-BBDD-CDAE-6E69-AD0AEB713317}"/>
              </a:ext>
            </a:extLst>
          </p:cNvPr>
          <p:cNvSpPr>
            <a:spLocks noGrp="1"/>
          </p:cNvSpPr>
          <p:nvPr/>
        </p:nvSpPr>
        <p:spPr>
          <a:xfrm rot="1023670">
            <a:off x="-938152" y="5191720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F1F3B847-68AD-8D23-4676-ED0AA894F7C0}"/>
              </a:ext>
            </a:extLst>
          </p:cNvPr>
          <p:cNvSpPr>
            <a:spLocks noGrp="1"/>
          </p:cNvSpPr>
          <p:nvPr/>
        </p:nvSpPr>
        <p:spPr>
          <a:xfrm>
            <a:off x="6279533" y="3268721"/>
            <a:ext cx="4768276" cy="271036"/>
          </a:xfrm>
          <a:prstGeom prst="roundRect">
            <a:avLst>
              <a:gd name="adj" fmla="val 50000"/>
            </a:avLst>
          </a:prstGeom>
          <a:solidFill>
            <a:srgbClr val="E8D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BDC64CD7-FBA9-2F1F-1F08-7D97B15C03CB}"/>
              </a:ext>
            </a:extLst>
          </p:cNvPr>
          <p:cNvSpPr>
            <a:spLocks noGrp="1"/>
          </p:cNvSpPr>
          <p:nvPr/>
        </p:nvSpPr>
        <p:spPr>
          <a:xfrm>
            <a:off x="5000134" y="1595846"/>
            <a:ext cx="7327073" cy="2308324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400" b="1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4800" b="1" dirty="0">
                <a:solidFill>
                  <a:srgbClr val="0070C0"/>
                </a:solidFill>
              </a:rPr>
              <a:t>Points System, Refund Policy &amp; Admin Management</a:t>
            </a:r>
            <a:endParaRPr lang="en-US" altLang="zh-CN" sz="4800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4ADD1232-F30A-0F3A-C45D-0E6D5591B7BC}"/>
              </a:ext>
            </a:extLst>
          </p:cNvPr>
          <p:cNvSpPr>
            <a:spLocks noGrp="1"/>
          </p:cNvSpPr>
          <p:nvPr/>
        </p:nvSpPr>
        <p:spPr>
          <a:xfrm>
            <a:off x="2724245" y="1809375"/>
            <a:ext cx="2275889" cy="2275889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8F602323-6E86-51D1-C89E-61915C3DB4A9}"/>
              </a:ext>
            </a:extLst>
          </p:cNvPr>
          <p:cNvSpPr>
            <a:spLocks noGrp="1"/>
          </p:cNvSpPr>
          <p:nvPr/>
        </p:nvSpPr>
        <p:spPr>
          <a:xfrm>
            <a:off x="2098366" y="1961606"/>
            <a:ext cx="3541468" cy="186204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1500" b="1">
                <a:solidFill>
                  <a:srgbClr val="D8E3E6"/>
                </a:solidFill>
                <a:latin typeface="Arial"/>
                <a:ea typeface="Arial"/>
                <a:cs typeface="Arial"/>
              </a:defRPr>
            </a:pPr>
            <a:r>
              <a:rPr sz="1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sz="115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1A51A61-4459-81EE-E0CA-FE38333C66D3}"/>
              </a:ext>
            </a:extLst>
          </p:cNvPr>
          <p:cNvSpPr>
            <a:spLocks noGrp="1"/>
          </p:cNvSpPr>
          <p:nvPr/>
        </p:nvSpPr>
        <p:spPr>
          <a:xfrm rot="1023670">
            <a:off x="10327292" y="5591742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148A8B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95EA6D17-195B-EDF2-16B9-F282F0982169}"/>
              </a:ext>
            </a:extLst>
          </p:cNvPr>
          <p:cNvSpPr>
            <a:spLocks noGrp="1"/>
          </p:cNvSpPr>
          <p:nvPr/>
        </p:nvSpPr>
        <p:spPr>
          <a:xfrm rot="5400000">
            <a:off x="840372" y="-49269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3E09CAE2-8061-3A8D-C467-5C04BA4CDFFD}"/>
              </a:ext>
            </a:extLst>
          </p:cNvPr>
          <p:cNvSpPr>
            <a:spLocks noGrp="1"/>
          </p:cNvSpPr>
          <p:nvPr/>
        </p:nvSpPr>
        <p:spPr>
          <a:xfrm>
            <a:off x="11897" y="645749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1131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22F8F-8D61-47B1-3C21-9EFAAF73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演示研究所 SlideLab.cc">
            <a:extLst>
              <a:ext uri="{FF2B5EF4-FFF2-40B4-BE49-F238E27FC236}">
                <a16:creationId xmlns:a16="http://schemas.microsoft.com/office/drawing/2014/main" id="{DF66EDD5-B9C1-DA20-0D02-D5A170423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E07CF7A8-CD70-E03D-0307-FABDEB4DBA1F}"/>
              </a:ext>
            </a:extLst>
          </p:cNvPr>
          <p:cNvSpPr>
            <a:spLocks noGrp="1"/>
          </p:cNvSpPr>
          <p:nvPr/>
        </p:nvSpPr>
        <p:spPr>
          <a:xfrm rot="5400000">
            <a:off x="900674" y="-66703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演示研究所 SlideLab.cc">
            <a:extLst>
              <a:ext uri="{FF2B5EF4-FFF2-40B4-BE49-F238E27FC236}">
                <a16:creationId xmlns:a16="http://schemas.microsoft.com/office/drawing/2014/main" id="{1F292EFD-B049-C711-7425-FCEA66DA5321}"/>
              </a:ext>
            </a:extLst>
          </p:cNvPr>
          <p:cNvSpPr>
            <a:spLocks noGrp="1"/>
          </p:cNvSpPr>
          <p:nvPr/>
        </p:nvSpPr>
        <p:spPr>
          <a:xfrm rot="1023670">
            <a:off x="10242194" y="5547268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196075B0-3D0D-35C2-8324-B6B095390686}"/>
              </a:ext>
            </a:extLst>
          </p:cNvPr>
          <p:cNvSpPr>
            <a:spLocks noGrp="1"/>
          </p:cNvSpPr>
          <p:nvPr/>
        </p:nvSpPr>
        <p:spPr>
          <a:xfrm>
            <a:off x="-256200" y="469913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流程图: 终止 6">
            <a:extLst>
              <a:ext uri="{FF2B5EF4-FFF2-40B4-BE49-F238E27FC236}">
                <a16:creationId xmlns:a16="http://schemas.microsoft.com/office/drawing/2014/main" id="{4803B524-B4D2-2064-64FB-D6A91D9A7D65}"/>
              </a:ext>
            </a:extLst>
          </p:cNvPr>
          <p:cNvSpPr/>
          <p:nvPr/>
        </p:nvSpPr>
        <p:spPr>
          <a:xfrm>
            <a:off x="410865" y="1395023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External Payment</a:t>
            </a:r>
            <a:endParaRPr lang="zh-CN" altLang="en-US" dirty="0"/>
          </a:p>
        </p:txBody>
      </p:sp>
      <p:sp>
        <p:nvSpPr>
          <p:cNvPr id="10" name="流程图: 终止 9">
            <a:extLst>
              <a:ext uri="{FF2B5EF4-FFF2-40B4-BE49-F238E27FC236}">
                <a16:creationId xmlns:a16="http://schemas.microsoft.com/office/drawing/2014/main" id="{9C29B4D9-047B-969C-B863-B4CEAA8DFF7E}"/>
              </a:ext>
            </a:extLst>
          </p:cNvPr>
          <p:cNvSpPr/>
          <p:nvPr/>
        </p:nvSpPr>
        <p:spPr>
          <a:xfrm>
            <a:off x="410865" y="2234268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Purchase Platform Points</a:t>
            </a:r>
            <a:endParaRPr lang="zh-CN" altLang="en-US" dirty="0"/>
          </a:p>
        </p:txBody>
      </p:sp>
      <p:sp>
        <p:nvSpPr>
          <p:cNvPr id="21" name="流程图: 终止 20">
            <a:extLst>
              <a:ext uri="{FF2B5EF4-FFF2-40B4-BE49-F238E27FC236}">
                <a16:creationId xmlns:a16="http://schemas.microsoft.com/office/drawing/2014/main" id="{117C1D53-6AF5-1F06-AAB6-D16D53286333}"/>
              </a:ext>
            </a:extLst>
          </p:cNvPr>
          <p:cNvSpPr/>
          <p:nvPr/>
        </p:nvSpPr>
        <p:spPr>
          <a:xfrm>
            <a:off x="410865" y="3140688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Points Enter the User Wallet</a:t>
            </a:r>
            <a:endParaRPr lang="zh-CN" altLang="en-US" dirty="0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4FBD1438-3CD9-44A4-15DD-965A55D7EF6C}"/>
              </a:ext>
            </a:extLst>
          </p:cNvPr>
          <p:cNvSpPr/>
          <p:nvPr/>
        </p:nvSpPr>
        <p:spPr>
          <a:xfrm rot="5400000">
            <a:off x="891516" y="2795663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A5604412-F868-58C0-F20F-EF00F3789BD5}"/>
              </a:ext>
            </a:extLst>
          </p:cNvPr>
          <p:cNvSpPr/>
          <p:nvPr/>
        </p:nvSpPr>
        <p:spPr>
          <a:xfrm rot="5400000">
            <a:off x="2298988" y="1941277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A3728498-C167-F45B-2AED-1F265EAEBF0E}"/>
              </a:ext>
            </a:extLst>
          </p:cNvPr>
          <p:cNvSpPr/>
          <p:nvPr/>
        </p:nvSpPr>
        <p:spPr>
          <a:xfrm rot="5400000">
            <a:off x="2298988" y="3701492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流程图: 终止 41">
            <a:extLst>
              <a:ext uri="{FF2B5EF4-FFF2-40B4-BE49-F238E27FC236}">
                <a16:creationId xmlns:a16="http://schemas.microsoft.com/office/drawing/2014/main" id="{79C13A5A-7F3C-F98B-5CD2-392DAD7433DD}"/>
              </a:ext>
            </a:extLst>
          </p:cNvPr>
          <p:cNvSpPr/>
          <p:nvPr/>
        </p:nvSpPr>
        <p:spPr>
          <a:xfrm>
            <a:off x="410042" y="4046517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Purchase Courses or Digital Content</a:t>
            </a:r>
            <a:endParaRPr lang="zh-CN" altLang="en-US" dirty="0"/>
          </a:p>
        </p:txBody>
      </p:sp>
      <p:sp>
        <p:nvSpPr>
          <p:cNvPr id="44" name="流程图: 终止 43">
            <a:extLst>
              <a:ext uri="{FF2B5EF4-FFF2-40B4-BE49-F238E27FC236}">
                <a16:creationId xmlns:a16="http://schemas.microsoft.com/office/drawing/2014/main" id="{1D813595-6368-2EC1-28B7-BB7411F7BDB1}"/>
              </a:ext>
            </a:extLst>
          </p:cNvPr>
          <p:cNvSpPr/>
          <p:nvPr/>
        </p:nvSpPr>
        <p:spPr>
          <a:xfrm>
            <a:off x="410042" y="4885762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Trainer or Creator Income</a:t>
            </a:r>
            <a:endParaRPr lang="zh-CN" altLang="en-US" dirty="0"/>
          </a:p>
        </p:txBody>
      </p:sp>
      <p:sp>
        <p:nvSpPr>
          <p:cNvPr id="46" name="流程图: 终止 45">
            <a:extLst>
              <a:ext uri="{FF2B5EF4-FFF2-40B4-BE49-F238E27FC236}">
                <a16:creationId xmlns:a16="http://schemas.microsoft.com/office/drawing/2014/main" id="{992FD05D-F4F0-3A15-AAF3-BF7314C90BB9}"/>
              </a:ext>
            </a:extLst>
          </p:cNvPr>
          <p:cNvSpPr/>
          <p:nvPr/>
        </p:nvSpPr>
        <p:spPr>
          <a:xfrm>
            <a:off x="410042" y="5792182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Transaction Record</a:t>
            </a:r>
            <a:endParaRPr lang="zh-CN" altLang="en-US" dirty="0"/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5E15BC34-36FD-AA54-5397-6FE7BAF9D802}"/>
              </a:ext>
            </a:extLst>
          </p:cNvPr>
          <p:cNvSpPr/>
          <p:nvPr/>
        </p:nvSpPr>
        <p:spPr>
          <a:xfrm rot="5400000">
            <a:off x="2334567" y="5461949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1292D7C9-F624-AEED-CD78-A496596B0824}"/>
              </a:ext>
            </a:extLst>
          </p:cNvPr>
          <p:cNvSpPr/>
          <p:nvPr/>
        </p:nvSpPr>
        <p:spPr>
          <a:xfrm rot="5400000">
            <a:off x="890693" y="4602244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21F5F60D-62FE-FAA1-D4DF-7FAF3327B62C}"/>
              </a:ext>
            </a:extLst>
          </p:cNvPr>
          <p:cNvSpPr>
            <a:spLocks noGrp="1"/>
          </p:cNvSpPr>
          <p:nvPr/>
        </p:nvSpPr>
        <p:spPr>
          <a:xfrm>
            <a:off x="3708099" y="1123950"/>
            <a:ext cx="7153275" cy="5338129"/>
          </a:xfrm>
          <a:custGeom>
            <a:avLst/>
            <a:gdLst/>
            <a:ahLst/>
            <a:cxnLst/>
            <a:rect l="l" t="t" r="r" b="b"/>
            <a:pathLst>
              <a:path w="9093200" h="4876800">
                <a:moveTo>
                  <a:pt x="381024" y="0"/>
                </a:moveTo>
                <a:lnTo>
                  <a:pt x="8712176" y="0"/>
                </a:lnTo>
                <a:cubicBezTo>
                  <a:pt x="8922610" y="0"/>
                  <a:pt x="9093200" y="170590"/>
                  <a:pt x="9093200" y="381024"/>
                </a:cubicBezTo>
                <a:lnTo>
                  <a:pt x="9093200" y="2039630"/>
                </a:lnTo>
                <a:lnTo>
                  <a:pt x="9080500" y="2038350"/>
                </a:lnTo>
                <a:cubicBezTo>
                  <a:pt x="8859558" y="2038350"/>
                  <a:pt x="8680450" y="2217458"/>
                  <a:pt x="8680450" y="2438400"/>
                </a:cubicBezTo>
                <a:cubicBezTo>
                  <a:pt x="8680450" y="2659342"/>
                  <a:pt x="8859558" y="2838450"/>
                  <a:pt x="9080500" y="2838450"/>
                </a:cubicBezTo>
                <a:lnTo>
                  <a:pt x="9093200" y="2837170"/>
                </a:lnTo>
                <a:lnTo>
                  <a:pt x="9093200" y="4495776"/>
                </a:lnTo>
                <a:cubicBezTo>
                  <a:pt x="9093200" y="4706210"/>
                  <a:pt x="8922610" y="4876800"/>
                  <a:pt x="8712176" y="4876800"/>
                </a:cubicBezTo>
                <a:lnTo>
                  <a:pt x="381024" y="4876800"/>
                </a:lnTo>
                <a:cubicBezTo>
                  <a:pt x="170590" y="4876800"/>
                  <a:pt x="0" y="4706210"/>
                  <a:pt x="0" y="4495776"/>
                </a:cubicBezTo>
                <a:lnTo>
                  <a:pt x="0" y="2838450"/>
                </a:lnTo>
                <a:cubicBezTo>
                  <a:pt x="220942" y="2838450"/>
                  <a:pt x="400050" y="2659342"/>
                  <a:pt x="400050" y="2438400"/>
                </a:cubicBezTo>
                <a:cubicBezTo>
                  <a:pt x="400050" y="2217458"/>
                  <a:pt x="220942" y="2038350"/>
                  <a:pt x="0" y="2038350"/>
                </a:cubicBezTo>
                <a:lnTo>
                  <a:pt x="0" y="381024"/>
                </a:lnTo>
                <a:cubicBezTo>
                  <a:pt x="0" y="170590"/>
                  <a:pt x="170590" y="0"/>
                  <a:pt x="3810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76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44A41399-44B9-6100-060F-7D0ADFB7D2FE}"/>
              </a:ext>
            </a:extLst>
          </p:cNvPr>
          <p:cNvSpPr>
            <a:spLocks noGrp="1"/>
          </p:cNvSpPr>
          <p:nvPr/>
        </p:nvSpPr>
        <p:spPr>
          <a:xfrm>
            <a:off x="4714454" y="2168597"/>
            <a:ext cx="5445278" cy="332398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r>
              <a:rPr lang="zh-CN" altLang="zh-CN" sz="1400" b="1" dirty="0"/>
              <a:t>Point Top-Up</a:t>
            </a:r>
          </a:p>
          <a:p>
            <a:r>
              <a:rPr lang="zh-CN" altLang="zh-CN" sz="1400" dirty="0"/>
              <a:t>Users purchase points through external payment methods. </a:t>
            </a:r>
          </a:p>
          <a:p>
            <a:r>
              <a:rPr lang="zh-CN" altLang="zh-CN" sz="1400" dirty="0"/>
              <a:t>Cards, PayNow and digital wallets are supported. </a:t>
            </a:r>
          </a:p>
          <a:p>
            <a:r>
              <a:rPr lang="zh-CN" altLang="zh-CN" sz="1400" dirty="0"/>
              <a:t>Points are added to the platform wallet after payment. </a:t>
            </a:r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b="1" dirty="0">
                <a:solidFill>
                  <a:schemeClr val="accent4">
                    <a:lumMod val="75000"/>
                  </a:schemeClr>
                </a:solidFill>
              </a:rPr>
              <a:t>Platform Purchases</a:t>
            </a:r>
          </a:p>
          <a:p>
            <a:r>
              <a:rPr lang="zh-CN" altLang="zh-CN" sz="1400" dirty="0">
                <a:solidFill>
                  <a:schemeClr val="accent4">
                    <a:lumMod val="75000"/>
                  </a:schemeClr>
                </a:solidFill>
              </a:rPr>
              <a:t>Courses and digital content are purchased using points. </a:t>
            </a:r>
          </a:p>
          <a:p>
            <a:r>
              <a:rPr lang="zh-CN" altLang="zh-CN" sz="1400" dirty="0">
                <a:solidFill>
                  <a:schemeClr val="accent4">
                    <a:lumMod val="75000"/>
                  </a:schemeClr>
                </a:solidFill>
              </a:rPr>
              <a:t>Users do not make a separate external payment for every item. </a:t>
            </a:r>
          </a:p>
          <a:p>
            <a:r>
              <a:rPr lang="zh-CN" altLang="zh-CN" sz="1400" dirty="0">
                <a:solidFill>
                  <a:schemeClr val="accent4">
                    <a:lumMod val="75000"/>
                  </a:schemeClr>
                </a:solidFill>
              </a:rPr>
              <a:t>The wallet balance and order total are displayed at checkout. </a:t>
            </a:r>
            <a:endParaRPr lang="en-US" altLang="zh-CN" sz="1400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zh-CN" altLang="zh-CN" sz="1400" dirty="0"/>
          </a:p>
          <a:p>
            <a:r>
              <a:rPr lang="zh-CN" altLang="zh-CN" sz="1400" b="1" dirty="0"/>
              <a:t>Income and Transaction Records</a:t>
            </a:r>
          </a:p>
          <a:p>
            <a:r>
              <a:rPr lang="zh-CN" altLang="zh-CN" sz="1400" dirty="0"/>
              <a:t>Trainers and Creators receive points from sales. </a:t>
            </a:r>
          </a:p>
          <a:p>
            <a:r>
              <a:rPr lang="zh-CN" altLang="zh-CN" sz="1400" dirty="0"/>
              <a:t>Income may remain frozen until the refund period ends. </a:t>
            </a:r>
          </a:p>
          <a:p>
            <a:r>
              <a:rPr lang="zh-CN" altLang="zh-CN" sz="1400" dirty="0"/>
              <a:t>The wallet records top-ups, spending, income and refunds.</a:t>
            </a:r>
          </a:p>
          <a:p>
            <a:pPr marL="0" algn="l">
              <a:defRPr sz="14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endParaRPr sz="1400" dirty="0">
              <a:solidFill>
                <a:srgbClr val="53616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4C69601-CEB6-EC6D-EC38-D698ED156602}"/>
              </a:ext>
            </a:extLst>
          </p:cNvPr>
          <p:cNvSpPr txBox="1"/>
          <p:nvPr/>
        </p:nvSpPr>
        <p:spPr>
          <a:xfrm>
            <a:off x="3933825" y="407917"/>
            <a:ext cx="5549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solidFill>
                  <a:schemeClr val="accent4">
                    <a:lumMod val="75000"/>
                  </a:schemeClr>
                </a:solidFill>
              </a:rPr>
              <a:t>Unified Points and Transaction System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5" name="演示研究所 SlideLab.cc">
            <a:extLst>
              <a:ext uri="{FF2B5EF4-FFF2-40B4-BE49-F238E27FC236}">
                <a16:creationId xmlns:a16="http://schemas.microsoft.com/office/drawing/2014/main" id="{DB16479E-4075-028C-26F3-3275AE76E5F8}"/>
              </a:ext>
            </a:extLst>
          </p:cNvPr>
          <p:cNvSpPr>
            <a:spLocks noGrp="1"/>
          </p:cNvSpPr>
          <p:nvPr/>
        </p:nvSpPr>
        <p:spPr>
          <a:xfrm flipV="1">
            <a:off x="10898036" y="380191"/>
            <a:ext cx="898750" cy="681320"/>
          </a:xfrm>
          <a:custGeom>
            <a:avLst/>
            <a:gdLst/>
            <a:ahLst/>
            <a:cxnLst/>
            <a:rect l="l" t="t" r="r" b="b"/>
            <a:pathLst>
              <a:path w="1077550" h="816864">
                <a:moveTo>
                  <a:pt x="826831" y="0"/>
                </a:moveTo>
                <a:lnTo>
                  <a:pt x="0" y="816864"/>
                </a:lnTo>
                <a:lnTo>
                  <a:pt x="1077550" y="738221"/>
                </a:lnTo>
                <a:lnTo>
                  <a:pt x="847372" y="504151"/>
                </a:lnTo>
                <a:lnTo>
                  <a:pt x="826831" y="0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7" name="演示研究所 SlideLab.cc">
            <a:extLst>
              <a:ext uri="{FF2B5EF4-FFF2-40B4-BE49-F238E27FC236}">
                <a16:creationId xmlns:a16="http://schemas.microsoft.com/office/drawing/2014/main" id="{6378B43E-CA8D-788E-98F0-4DAAD5A92624}"/>
              </a:ext>
            </a:extLst>
          </p:cNvPr>
          <p:cNvSpPr>
            <a:spLocks noGrp="1"/>
          </p:cNvSpPr>
          <p:nvPr/>
        </p:nvSpPr>
        <p:spPr>
          <a:xfrm rot="21316033" flipV="1">
            <a:off x="10908925" y="342458"/>
            <a:ext cx="940067" cy="442339"/>
          </a:xfrm>
          <a:custGeom>
            <a:avLst/>
            <a:gdLst/>
            <a:ahLst/>
            <a:cxnLst/>
            <a:rect l="l" t="t" r="r" b="b"/>
            <a:pathLst>
              <a:path w="1127086" h="530340">
                <a:moveTo>
                  <a:pt x="0" y="530341"/>
                </a:moveTo>
                <a:lnTo>
                  <a:pt x="1127086" y="129609"/>
                </a:lnTo>
                <a:lnTo>
                  <a:pt x="784637" y="0"/>
                </a:lnTo>
                <a:lnTo>
                  <a:pt x="0" y="530341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6393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演示研究所 SlideLab.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BBE7F6AF-3489-4872-AD44-AE61EFC76293}"/>
              </a:ext>
            </a:extLst>
          </p:cNvPr>
          <p:cNvSpPr>
            <a:spLocks noGrp="1"/>
          </p:cNvSpPr>
          <p:nvPr/>
        </p:nvSpPr>
        <p:spPr>
          <a:xfrm rot="5400000">
            <a:off x="900674" y="-66703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09E62711-1910-3F82-AC19-9FDD5433BBCC}"/>
              </a:ext>
            </a:extLst>
          </p:cNvPr>
          <p:cNvSpPr>
            <a:spLocks noGrp="1"/>
          </p:cNvSpPr>
          <p:nvPr/>
        </p:nvSpPr>
        <p:spPr>
          <a:xfrm>
            <a:off x="-256200" y="469913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EF73E1-F537-23D1-32B7-794583E0B941}"/>
              </a:ext>
            </a:extLst>
          </p:cNvPr>
          <p:cNvSpPr txBox="1"/>
          <p:nvPr/>
        </p:nvSpPr>
        <p:spPr>
          <a:xfrm>
            <a:off x="2962770" y="316025"/>
            <a:ext cx="6266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solidFill>
                  <a:schemeClr val="accent4">
                    <a:lumMod val="75000"/>
                  </a:schemeClr>
                </a:solidFill>
              </a:rPr>
              <a:t>Refund Policy &amp; Admin Management</a:t>
            </a:r>
            <a:endParaRPr lang="zh-CN" altLang="en-US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36EE80-F226-781F-BAE1-AE1F2F8AC47D}"/>
              </a:ext>
            </a:extLst>
          </p:cNvPr>
          <p:cNvSpPr txBox="1"/>
          <p:nvPr/>
        </p:nvSpPr>
        <p:spPr>
          <a:xfrm>
            <a:off x="333375" y="1495593"/>
            <a:ext cx="73723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Refund Policy</a:t>
            </a:r>
          </a:p>
          <a:p>
            <a:r>
              <a:rPr lang="zh-CN" altLang="zh-CN" dirty="0"/>
              <a:t>Offline course watch time must be under </a:t>
            </a:r>
            <a:r>
              <a:rPr lang="en-US" altLang="zh-CN" dirty="0"/>
              <a:t>20%</a:t>
            </a:r>
            <a:r>
              <a:rPr lang="zh-CN" altLang="zh-CN" dirty="0"/>
              <a:t>. </a:t>
            </a:r>
          </a:p>
          <a:p>
            <a:r>
              <a:rPr lang="zh-CN" altLang="zh-CN" dirty="0"/>
              <a:t>Online course refunds must be requested before the required deadline. </a:t>
            </a:r>
          </a:p>
          <a:p>
            <a:r>
              <a:rPr lang="zh-CN" altLang="zh-CN" dirty="0"/>
              <a:t>The system displays whether the course is eligible. </a:t>
            </a:r>
          </a:p>
          <a:p>
            <a:r>
              <a:rPr lang="zh-CN" altLang="zh-CN" dirty="0"/>
              <a:t>Users must provide a refund reason. 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b="1" dirty="0"/>
              <a:t>Refund Review</a:t>
            </a:r>
          </a:p>
          <a:p>
            <a:r>
              <a:rPr lang="zh-CN" altLang="zh-CN" dirty="0"/>
              <a:t>Admin checks the purchase and course information. </a:t>
            </a:r>
          </a:p>
          <a:p>
            <a:r>
              <a:rPr lang="zh-CN" altLang="zh-CN" dirty="0"/>
              <a:t>Watch time, course status and eligibility are reviewed. </a:t>
            </a:r>
          </a:p>
          <a:p>
            <a:r>
              <a:rPr lang="zh-CN" altLang="zh-CN" dirty="0"/>
              <a:t>Approved refunds return points to the user’s wallet. </a:t>
            </a:r>
          </a:p>
          <a:p>
            <a:r>
              <a:rPr lang="zh-CN" altLang="zh-CN" dirty="0"/>
              <a:t>Rejected refunds keep the original transaction. 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b="1" dirty="0"/>
              <a:t>Admin Management</a:t>
            </a:r>
          </a:p>
          <a:p>
            <a:r>
              <a:rPr lang="zh-CN" altLang="zh-CN" dirty="0"/>
              <a:t>Review Trainer and Creator applications </a:t>
            </a:r>
          </a:p>
          <a:p>
            <a:r>
              <a:rPr lang="zh-CN" altLang="zh-CN" dirty="0"/>
              <a:t>Process user refund requests </a:t>
            </a:r>
          </a:p>
          <a:p>
            <a:r>
              <a:rPr lang="zh-CN" altLang="zh-CN" dirty="0"/>
              <a:t>Review point and transaction records </a:t>
            </a:r>
          </a:p>
          <a:p>
            <a:r>
              <a:rPr lang="zh-CN" altLang="zh-CN" dirty="0"/>
              <a:t>Monitor course and content status</a:t>
            </a:r>
          </a:p>
          <a:p>
            <a:endParaRPr lang="zh-CN" altLang="en-US" dirty="0"/>
          </a:p>
        </p:txBody>
      </p:sp>
      <p:sp>
        <p:nvSpPr>
          <p:cNvPr id="17" name="流程图: 终止 16">
            <a:extLst>
              <a:ext uri="{FF2B5EF4-FFF2-40B4-BE49-F238E27FC236}">
                <a16:creationId xmlns:a16="http://schemas.microsoft.com/office/drawing/2014/main" id="{B0961A70-BBC9-8FCC-57CC-D920EE33256B}"/>
              </a:ext>
            </a:extLst>
          </p:cNvPr>
          <p:cNvSpPr/>
          <p:nvPr/>
        </p:nvSpPr>
        <p:spPr>
          <a:xfrm>
            <a:off x="7822996" y="1871304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User Submits a Refund Request</a:t>
            </a:r>
            <a:endParaRPr lang="zh-CN" altLang="en-US" dirty="0"/>
          </a:p>
        </p:txBody>
      </p:sp>
      <p:sp>
        <p:nvSpPr>
          <p:cNvPr id="19" name="流程图: 终止 18">
            <a:extLst>
              <a:ext uri="{FF2B5EF4-FFF2-40B4-BE49-F238E27FC236}">
                <a16:creationId xmlns:a16="http://schemas.microsoft.com/office/drawing/2014/main" id="{2A43FC02-F290-7F3E-4948-BB39D552D27D}"/>
              </a:ext>
            </a:extLst>
          </p:cNvPr>
          <p:cNvSpPr/>
          <p:nvPr/>
        </p:nvSpPr>
        <p:spPr>
          <a:xfrm>
            <a:off x="7822996" y="2729599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Check Course Type and Usage</a:t>
            </a:r>
            <a:endParaRPr lang="zh-CN" altLang="en-US" dirty="0"/>
          </a:p>
        </p:txBody>
      </p:sp>
      <p:sp>
        <p:nvSpPr>
          <p:cNvPr id="21" name="流程图: 终止 20">
            <a:extLst>
              <a:ext uri="{FF2B5EF4-FFF2-40B4-BE49-F238E27FC236}">
                <a16:creationId xmlns:a16="http://schemas.microsoft.com/office/drawing/2014/main" id="{68B6795B-FD80-64F2-B67B-956D5CF68F28}"/>
              </a:ext>
            </a:extLst>
          </p:cNvPr>
          <p:cNvSpPr/>
          <p:nvPr/>
        </p:nvSpPr>
        <p:spPr>
          <a:xfrm>
            <a:off x="7822996" y="3636019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Admin Reviews the Request</a:t>
            </a:r>
            <a:endParaRPr lang="zh-CN" altLang="en-US" dirty="0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2B64924D-862A-1338-A9E2-865409B7519A}"/>
              </a:ext>
            </a:extLst>
          </p:cNvPr>
          <p:cNvSpPr/>
          <p:nvPr/>
        </p:nvSpPr>
        <p:spPr>
          <a:xfrm rot="5400000">
            <a:off x="8303647" y="3290994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A3C92A69-9FB0-8FF9-FD76-24C4185E9599}"/>
              </a:ext>
            </a:extLst>
          </p:cNvPr>
          <p:cNvSpPr/>
          <p:nvPr/>
        </p:nvSpPr>
        <p:spPr>
          <a:xfrm rot="5400000">
            <a:off x="9711119" y="2436608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25CD6D81-8430-9761-2C77-51117EF1EF9E}"/>
              </a:ext>
            </a:extLst>
          </p:cNvPr>
          <p:cNvSpPr/>
          <p:nvPr/>
        </p:nvSpPr>
        <p:spPr>
          <a:xfrm rot="5400000">
            <a:off x="9711119" y="4196823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流程图: 终止 28">
            <a:extLst>
              <a:ext uri="{FF2B5EF4-FFF2-40B4-BE49-F238E27FC236}">
                <a16:creationId xmlns:a16="http://schemas.microsoft.com/office/drawing/2014/main" id="{198BCE53-5C49-0100-7BEC-6CAB0697B28A}"/>
              </a:ext>
            </a:extLst>
          </p:cNvPr>
          <p:cNvSpPr/>
          <p:nvPr/>
        </p:nvSpPr>
        <p:spPr>
          <a:xfrm>
            <a:off x="7822173" y="4541848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Approve / Reject</a:t>
            </a:r>
            <a:endParaRPr lang="zh-CN" altLang="en-US" dirty="0"/>
          </a:p>
        </p:txBody>
      </p:sp>
      <p:sp>
        <p:nvSpPr>
          <p:cNvPr id="33" name="流程图: 终止 32">
            <a:extLst>
              <a:ext uri="{FF2B5EF4-FFF2-40B4-BE49-F238E27FC236}">
                <a16:creationId xmlns:a16="http://schemas.microsoft.com/office/drawing/2014/main" id="{3CED6A04-A0E1-F864-C0DA-4AC0B220D646}"/>
              </a:ext>
            </a:extLst>
          </p:cNvPr>
          <p:cNvSpPr/>
          <p:nvPr/>
        </p:nvSpPr>
        <p:spPr>
          <a:xfrm>
            <a:off x="6106170" y="5629329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Return Points</a:t>
            </a:r>
            <a:endParaRPr lang="zh-CN" altLang="en-US" dirty="0"/>
          </a:p>
        </p:txBody>
      </p:sp>
      <p:sp>
        <p:nvSpPr>
          <p:cNvPr id="35" name="流程图: 终止 34">
            <a:extLst>
              <a:ext uri="{FF2B5EF4-FFF2-40B4-BE49-F238E27FC236}">
                <a16:creationId xmlns:a16="http://schemas.microsoft.com/office/drawing/2014/main" id="{1A682EFF-4888-4AAD-1244-0310395D1B05}"/>
              </a:ext>
            </a:extLst>
          </p:cNvPr>
          <p:cNvSpPr/>
          <p:nvPr/>
        </p:nvSpPr>
        <p:spPr>
          <a:xfrm>
            <a:off x="9326265" y="5625965"/>
            <a:ext cx="2532360" cy="6858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Keep the Transaction</a:t>
            </a:r>
            <a:endParaRPr lang="zh-CN" altLang="en-US" dirty="0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0CBE49A0-C9FB-207A-9405-ADEF0474F1C4}"/>
              </a:ext>
            </a:extLst>
          </p:cNvPr>
          <p:cNvSpPr/>
          <p:nvPr/>
        </p:nvSpPr>
        <p:spPr>
          <a:xfrm rot="3614735">
            <a:off x="10062896" y="5178813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54DFC03C-78D2-F1BA-1F98-F96DD9878BB6}"/>
              </a:ext>
            </a:extLst>
          </p:cNvPr>
          <p:cNvSpPr/>
          <p:nvPr/>
        </p:nvSpPr>
        <p:spPr>
          <a:xfrm rot="6921063">
            <a:off x="8000427" y="5210663"/>
            <a:ext cx="220029" cy="47002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演示研究所 SlideLab.cc">
            <a:extLst>
              <a:ext uri="{FF2B5EF4-FFF2-40B4-BE49-F238E27FC236}">
                <a16:creationId xmlns:a16="http://schemas.microsoft.com/office/drawing/2014/main" id="{9B6D7E6D-63A1-C5EA-6598-B18E3718EA8E}"/>
              </a:ext>
            </a:extLst>
          </p:cNvPr>
          <p:cNvSpPr>
            <a:spLocks noGrp="1"/>
          </p:cNvSpPr>
          <p:nvPr/>
        </p:nvSpPr>
        <p:spPr>
          <a:xfrm flipV="1">
            <a:off x="10898036" y="380191"/>
            <a:ext cx="898750" cy="681320"/>
          </a:xfrm>
          <a:custGeom>
            <a:avLst/>
            <a:gdLst/>
            <a:ahLst/>
            <a:cxnLst/>
            <a:rect l="l" t="t" r="r" b="b"/>
            <a:pathLst>
              <a:path w="1077550" h="816864">
                <a:moveTo>
                  <a:pt x="826831" y="0"/>
                </a:moveTo>
                <a:lnTo>
                  <a:pt x="0" y="816864"/>
                </a:lnTo>
                <a:lnTo>
                  <a:pt x="1077550" y="738221"/>
                </a:lnTo>
                <a:lnTo>
                  <a:pt x="847372" y="504151"/>
                </a:lnTo>
                <a:lnTo>
                  <a:pt x="826831" y="0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7725EBA9-E5E9-0E14-7036-F7163C72629D}"/>
              </a:ext>
            </a:extLst>
          </p:cNvPr>
          <p:cNvSpPr>
            <a:spLocks noGrp="1"/>
          </p:cNvSpPr>
          <p:nvPr/>
        </p:nvSpPr>
        <p:spPr>
          <a:xfrm rot="21316033" flipV="1">
            <a:off x="10908925" y="342458"/>
            <a:ext cx="940067" cy="442339"/>
          </a:xfrm>
          <a:custGeom>
            <a:avLst/>
            <a:gdLst/>
            <a:ahLst/>
            <a:cxnLst/>
            <a:rect l="l" t="t" r="r" b="b"/>
            <a:pathLst>
              <a:path w="1127086" h="530340">
                <a:moveTo>
                  <a:pt x="0" y="530341"/>
                </a:moveTo>
                <a:lnTo>
                  <a:pt x="1127086" y="129609"/>
                </a:lnTo>
                <a:lnTo>
                  <a:pt x="784637" y="0"/>
                </a:lnTo>
                <a:lnTo>
                  <a:pt x="0" y="530341"/>
                </a:lnTo>
                <a:close/>
              </a:path>
            </a:pathLst>
          </a:custGeom>
          <a:solidFill>
            <a:srgbClr val="FFFFFF"/>
          </a:solidFill>
          <a:ln w="7430">
            <a:solidFill>
              <a:srgbClr val="148A8B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4437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6049A-6140-70B0-F900-DF131CC6E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>
            <a:extLst>
              <a:ext uri="{FF2B5EF4-FFF2-40B4-BE49-F238E27FC236}">
                <a16:creationId xmlns:a16="http://schemas.microsoft.com/office/drawing/2014/main" id="{A05D89D6-D2FB-91B0-1207-27DD77113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2E366BA7-A999-B72A-8BBF-0AAB1769C623}"/>
              </a:ext>
            </a:extLst>
          </p:cNvPr>
          <p:cNvSpPr>
            <a:spLocks noGrp="1"/>
          </p:cNvSpPr>
          <p:nvPr/>
        </p:nvSpPr>
        <p:spPr>
          <a:xfrm rot="1023670">
            <a:off x="-938152" y="5191720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0643E860-3C79-4983-9EE8-BED78A991096}"/>
              </a:ext>
            </a:extLst>
          </p:cNvPr>
          <p:cNvSpPr>
            <a:spLocks noGrp="1"/>
          </p:cNvSpPr>
          <p:nvPr/>
        </p:nvSpPr>
        <p:spPr>
          <a:xfrm>
            <a:off x="6279533" y="3268721"/>
            <a:ext cx="4768276" cy="271036"/>
          </a:xfrm>
          <a:prstGeom prst="roundRect">
            <a:avLst>
              <a:gd name="adj" fmla="val 50000"/>
            </a:avLst>
          </a:prstGeom>
          <a:solidFill>
            <a:srgbClr val="E8D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A138EEF5-DA0D-9D9A-0455-2B309353B2A9}"/>
              </a:ext>
            </a:extLst>
          </p:cNvPr>
          <p:cNvSpPr>
            <a:spLocks noGrp="1"/>
          </p:cNvSpPr>
          <p:nvPr/>
        </p:nvSpPr>
        <p:spPr>
          <a:xfrm>
            <a:off x="5000134" y="1965178"/>
            <a:ext cx="7327073" cy="1569660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4800" b="1" dirty="0"/>
              <a:t>Supporting Materials</a:t>
            </a:r>
            <a:r>
              <a:rPr lang="en-US" altLang="zh-CN" sz="4800" b="1" dirty="0"/>
              <a:t> &amp; </a:t>
            </a:r>
            <a:r>
              <a:rPr lang="en-US" altLang="zh-CN" sz="48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694BC4C9-01B6-857B-A51F-EDDDF4C95C78}"/>
              </a:ext>
            </a:extLst>
          </p:cNvPr>
          <p:cNvSpPr>
            <a:spLocks noGrp="1"/>
          </p:cNvSpPr>
          <p:nvPr/>
        </p:nvSpPr>
        <p:spPr>
          <a:xfrm>
            <a:off x="2724245" y="1809375"/>
            <a:ext cx="2275889" cy="2275889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E9477467-3926-6D4F-7AE5-278622C337F4}"/>
              </a:ext>
            </a:extLst>
          </p:cNvPr>
          <p:cNvSpPr>
            <a:spLocks noGrp="1"/>
          </p:cNvSpPr>
          <p:nvPr/>
        </p:nvSpPr>
        <p:spPr>
          <a:xfrm>
            <a:off x="2098366" y="1961606"/>
            <a:ext cx="3541468" cy="186204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1500" b="1">
                <a:solidFill>
                  <a:srgbClr val="D8E3E6"/>
                </a:solidFill>
                <a:latin typeface="Arial"/>
                <a:ea typeface="Arial"/>
                <a:cs typeface="Arial"/>
              </a:defRPr>
            </a:pPr>
            <a:r>
              <a:rPr sz="1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sz="115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131CECC8-2FD6-D661-1CC3-EC9E908D3F7C}"/>
              </a:ext>
            </a:extLst>
          </p:cNvPr>
          <p:cNvSpPr>
            <a:spLocks noGrp="1"/>
          </p:cNvSpPr>
          <p:nvPr/>
        </p:nvSpPr>
        <p:spPr>
          <a:xfrm rot="1023670">
            <a:off x="10327292" y="5591742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148A8B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BFDFA4A1-366E-2445-47D8-716AD0DD9531}"/>
              </a:ext>
            </a:extLst>
          </p:cNvPr>
          <p:cNvSpPr>
            <a:spLocks noGrp="1"/>
          </p:cNvSpPr>
          <p:nvPr/>
        </p:nvSpPr>
        <p:spPr>
          <a:xfrm rot="5400000">
            <a:off x="840372" y="-49269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CF4254DC-7320-3F14-89F3-BE4BD2052000}"/>
              </a:ext>
            </a:extLst>
          </p:cNvPr>
          <p:cNvSpPr>
            <a:spLocks noGrp="1"/>
          </p:cNvSpPr>
          <p:nvPr/>
        </p:nvSpPr>
        <p:spPr>
          <a:xfrm>
            <a:off x="11897" y="645749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4654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7C9D-CB73-8A3B-2D83-D617E34A8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演示研究所 SlideLab.cc">
            <a:extLst>
              <a:ext uri="{FF2B5EF4-FFF2-40B4-BE49-F238E27FC236}">
                <a16:creationId xmlns:a16="http://schemas.microsoft.com/office/drawing/2014/main" id="{E1D6EDB3-F645-E3EE-BD7A-C558B63D7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377C6AC3-6AA7-494D-FB78-3A79BE9C0DF9}"/>
              </a:ext>
            </a:extLst>
          </p:cNvPr>
          <p:cNvSpPr>
            <a:spLocks noGrp="1"/>
          </p:cNvSpPr>
          <p:nvPr/>
        </p:nvSpPr>
        <p:spPr>
          <a:xfrm rot="5400000">
            <a:off x="840374" y="-697724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DD345D81-54CD-3E6E-8090-2FC68D2BFBAC}"/>
              </a:ext>
            </a:extLst>
          </p:cNvPr>
          <p:cNvSpPr>
            <a:spLocks noGrp="1"/>
          </p:cNvSpPr>
          <p:nvPr/>
        </p:nvSpPr>
        <p:spPr>
          <a:xfrm>
            <a:off x="-78792" y="445115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" name="Picture 59">
            <a:extLst>
              <a:ext uri="{FF2B5EF4-FFF2-40B4-BE49-F238E27FC236}">
                <a16:creationId xmlns:a16="http://schemas.microsoft.com/office/drawing/2014/main" id="{4148F7E8-EED2-0B46-4A10-0846A93AA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367" y="1461052"/>
            <a:ext cx="9183390" cy="500976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1455BAB-BAB7-9B1B-9D34-910E3A491D66}"/>
              </a:ext>
            </a:extLst>
          </p:cNvPr>
          <p:cNvSpPr/>
          <p:nvPr/>
        </p:nvSpPr>
        <p:spPr>
          <a:xfrm>
            <a:off x="139031" y="1399359"/>
            <a:ext cx="5552675" cy="50097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C3A4C7E1-3645-252C-0A8C-648BE5F08F94}"/>
              </a:ext>
            </a:extLst>
          </p:cNvPr>
          <p:cNvSpPr/>
          <p:nvPr/>
        </p:nvSpPr>
        <p:spPr>
          <a:xfrm rot="10800000">
            <a:off x="5880167" y="4075226"/>
            <a:ext cx="3061686" cy="34940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C039DB4-ACAE-A009-4694-BCC8D8A5D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101" y="1506653"/>
            <a:ext cx="5468533" cy="483937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5D8233F-3333-8E29-0CB3-76D279298491}"/>
              </a:ext>
            </a:extLst>
          </p:cNvPr>
          <p:cNvSpPr txBox="1"/>
          <p:nvPr/>
        </p:nvSpPr>
        <p:spPr>
          <a:xfrm>
            <a:off x="3189249" y="814447"/>
            <a:ext cx="4255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entity-relationship diagram</a:t>
            </a:r>
            <a:endParaRPr lang="zh-CN" altLang="en-US" sz="2800" b="1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907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50ABB-4DF4-2C14-7F65-C0F65E256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演示研究所 SlideLab.cc">
            <a:extLst>
              <a:ext uri="{FF2B5EF4-FFF2-40B4-BE49-F238E27FC236}">
                <a16:creationId xmlns:a16="http://schemas.microsoft.com/office/drawing/2014/main" id="{601730F3-6A7E-CC1F-3A5D-25E37BC73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04E43E88-2D18-EA46-B4DB-A635B82C1613}"/>
              </a:ext>
            </a:extLst>
          </p:cNvPr>
          <p:cNvSpPr>
            <a:spLocks noGrp="1"/>
          </p:cNvSpPr>
          <p:nvPr/>
        </p:nvSpPr>
        <p:spPr>
          <a:xfrm rot="5400000">
            <a:off x="840374" y="-697724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011EAF69-BDE9-7C36-AFF4-6A64B5D213DF}"/>
              </a:ext>
            </a:extLst>
          </p:cNvPr>
          <p:cNvSpPr>
            <a:spLocks noGrp="1"/>
          </p:cNvSpPr>
          <p:nvPr/>
        </p:nvSpPr>
        <p:spPr>
          <a:xfrm>
            <a:off x="-78792" y="445115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7A7E92-A33C-B48C-64F5-B3918A342E0A}"/>
              </a:ext>
            </a:extLst>
          </p:cNvPr>
          <p:cNvSpPr txBox="1"/>
          <p:nvPr/>
        </p:nvSpPr>
        <p:spPr>
          <a:xfrm>
            <a:off x="3531219" y="522059"/>
            <a:ext cx="3077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Activity diagram</a:t>
            </a:r>
            <a:endParaRPr lang="zh-CN" altLang="en-US" sz="3200" b="1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3F7347-645D-7FB2-5520-11649ACE78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8969" y="1541403"/>
            <a:ext cx="5524500" cy="46577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4CD5AB2-4071-55E6-2CE5-50B1A7352C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63693" y="1646490"/>
            <a:ext cx="4559338" cy="47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53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DD857-1C9A-F7CD-DCCC-7A721A234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演示研究所 SlideLab.cc">
            <a:extLst>
              <a:ext uri="{FF2B5EF4-FFF2-40B4-BE49-F238E27FC236}">
                <a16:creationId xmlns:a16="http://schemas.microsoft.com/office/drawing/2014/main" id="{8B91DC27-7ECA-AFA6-1F83-4AA7E5549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A0A65C07-CE75-F2B7-6EC5-D898193C8293}"/>
              </a:ext>
            </a:extLst>
          </p:cNvPr>
          <p:cNvSpPr>
            <a:spLocks noGrp="1"/>
          </p:cNvSpPr>
          <p:nvPr/>
        </p:nvSpPr>
        <p:spPr>
          <a:xfrm rot="5400000">
            <a:off x="840374" y="-697724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9E3554AC-6BA4-5242-FD3B-640BF9237F88}"/>
              </a:ext>
            </a:extLst>
          </p:cNvPr>
          <p:cNvSpPr>
            <a:spLocks noGrp="1"/>
          </p:cNvSpPr>
          <p:nvPr/>
        </p:nvSpPr>
        <p:spPr>
          <a:xfrm>
            <a:off x="-78792" y="445115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488460-0D84-3844-5948-0BD22254EEF9}"/>
              </a:ext>
            </a:extLst>
          </p:cNvPr>
          <p:cNvSpPr txBox="1"/>
          <p:nvPr/>
        </p:nvSpPr>
        <p:spPr>
          <a:xfrm>
            <a:off x="3531219" y="522059"/>
            <a:ext cx="3665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Usecase</a:t>
            </a:r>
            <a:r>
              <a:rPr lang="en-US" altLang="zh-C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diagram</a:t>
            </a:r>
            <a:endParaRPr lang="zh-CN" altLang="en-US" sz="3200" b="1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B0CC2C7-8F6C-8FDA-F886-54D5DFA7BD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1029" y="1395877"/>
            <a:ext cx="5762625" cy="43338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052FF24-10E3-5230-3EEB-427AAAE631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08166" y="1395877"/>
            <a:ext cx="57626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677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74D3B-94A0-8611-34BC-54BDE622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演示研究所 SlideLab.cc">
            <a:extLst>
              <a:ext uri="{FF2B5EF4-FFF2-40B4-BE49-F238E27FC236}">
                <a16:creationId xmlns:a16="http://schemas.microsoft.com/office/drawing/2014/main" id="{9F208DC7-669E-B8AF-9EA6-343C822FA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6FB929FC-A6D1-86E9-D911-EB6C69C599F6}"/>
              </a:ext>
            </a:extLst>
          </p:cNvPr>
          <p:cNvSpPr>
            <a:spLocks noGrp="1"/>
          </p:cNvSpPr>
          <p:nvPr/>
        </p:nvSpPr>
        <p:spPr>
          <a:xfrm rot="5400000">
            <a:off x="840374" y="-697724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ABF247AE-B84B-260C-3328-1CC63FB40C39}"/>
              </a:ext>
            </a:extLst>
          </p:cNvPr>
          <p:cNvSpPr>
            <a:spLocks noGrp="1"/>
          </p:cNvSpPr>
          <p:nvPr/>
        </p:nvSpPr>
        <p:spPr>
          <a:xfrm>
            <a:off x="-78792" y="445115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674870-47A5-0A19-BF33-7E711ED54AF8}"/>
              </a:ext>
            </a:extLst>
          </p:cNvPr>
          <p:cNvSpPr txBox="1"/>
          <p:nvPr/>
        </p:nvSpPr>
        <p:spPr>
          <a:xfrm>
            <a:off x="3531219" y="522059"/>
            <a:ext cx="3077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</a:t>
            </a:r>
            <a:endParaRPr lang="zh-CN" altLang="en-US" sz="3200" b="1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92FD64-6A3C-BCCC-0395-EF1AE2AD5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34" y="1336506"/>
            <a:ext cx="3439331" cy="23618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5093A34-6184-4D92-8A52-E42FF1380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863" y="1336506"/>
            <a:ext cx="3412273" cy="228233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DB2062A-8644-C8F4-0DD7-7A84C115D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7034" y="1336506"/>
            <a:ext cx="3244045" cy="22421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AA07B92-047B-A5DB-5C9A-45EBF178F8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634" y="3928037"/>
            <a:ext cx="3439331" cy="227517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66B26CC-C4F5-8BB9-6C30-C1BC5550AC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466" y="3928037"/>
            <a:ext cx="3439331" cy="227943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66E14FF-D9D1-2785-1B8D-C85F38345A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7035" y="3923771"/>
            <a:ext cx="3244043" cy="227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21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演示研究所 SlideLab.cc">
            <a:extLst>
              <a:ext uri="{FF2B5EF4-FFF2-40B4-BE49-F238E27FC236}">
                <a16:creationId xmlns:a16="http://schemas.microsoft.com/office/drawing/2014/main" id="{14FABE47-79A0-34CF-7DA0-546DBB7B8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710832" y="585216"/>
            <a:ext cx="2770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User Stories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6876" y="1188720"/>
            <a:ext cx="1325880" cy="384048"/>
          </a:xfrm>
          <a:prstGeom prst="rect">
            <a:avLst/>
          </a:prstGeom>
          <a:solidFill>
            <a:srgbClr val="DDE7F5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1692756" y="1188720"/>
            <a:ext cx="3291840" cy="384048"/>
          </a:xfrm>
          <a:prstGeom prst="rect">
            <a:avLst/>
          </a:prstGeom>
          <a:solidFill>
            <a:srgbClr val="DDE7F5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984596" y="1188720"/>
            <a:ext cx="6748272" cy="384048"/>
          </a:xfrm>
          <a:prstGeom prst="rect">
            <a:avLst/>
          </a:prstGeom>
          <a:solidFill>
            <a:srgbClr val="DDE7F5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66876" y="1572768"/>
            <a:ext cx="1325880" cy="804672"/>
          </a:xfrm>
          <a:prstGeom prst="rect">
            <a:avLst/>
          </a:prstGeom>
          <a:solidFill>
            <a:srgbClr val="EEF4FB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US-A01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1692756" y="1572768"/>
            <a:ext cx="32918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user accounts and roles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984596" y="1572768"/>
            <a:ext cx="674827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an admin, I want to view, edit, suspend or remove user accounts and change their assigned roles, so that I can control platform access and keep the role mix healthy.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66876" y="2377440"/>
            <a:ext cx="1325880" cy="987552"/>
          </a:xfrm>
          <a:prstGeom prst="rect">
            <a:avLst/>
          </a:prstGeom>
          <a:solidFill>
            <a:srgbClr val="EEF4FB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US-A02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692756" y="2377440"/>
            <a:ext cx="32918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uploaded courses and content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984596" y="2377440"/>
            <a:ext cx="674827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an admin, I want to review submitted courses and creator content and approve or reject them with a reason, so that only appropriate, copyright-safe items reach the marketplaces.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66876" y="3364992"/>
            <a:ext cx="1325880" cy="749808"/>
          </a:xfrm>
          <a:prstGeom prst="rect">
            <a:avLst/>
          </a:prstGeom>
          <a:solidFill>
            <a:srgbClr val="EEF4FB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US-A03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692756" y="3364992"/>
            <a:ext cx="3291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Oversee all training courses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984596" y="3364992"/>
            <a:ext cx="67482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an admin, I want to view or cancel any trainer’s published course, so that I can correct issues and manage the overall schedule.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66876" y="4114800"/>
            <a:ext cx="1325880" cy="841248"/>
          </a:xfrm>
          <a:prstGeom prst="rect">
            <a:avLst/>
          </a:prstGeom>
          <a:solidFill>
            <a:srgbClr val="EEF4FB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US-A04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1692756" y="4114800"/>
            <a:ext cx="32918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member point balances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984596" y="4114800"/>
            <a:ext cx="67482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an admin, I want to add or deduct points from a user’s wallet with a recorded reason, so that I can resolve disputes and keep the point system fair.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66876" y="4956048"/>
            <a:ext cx="1325880" cy="713232"/>
          </a:xfrm>
          <a:prstGeom prst="rect">
            <a:avLst/>
          </a:prstGeom>
          <a:solidFill>
            <a:srgbClr val="EEF4FB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US-A05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1692756" y="4956048"/>
            <a:ext cx="3291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platform activity reports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984596" y="4956048"/>
            <a:ext cx="6748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an admin, I want to view participation, sales and usage reports, so that I can analyse platform health and prioritise improvements.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66876" y="5669280"/>
            <a:ext cx="1325880" cy="896112"/>
          </a:xfrm>
          <a:prstGeom prst="rect">
            <a:avLst/>
          </a:prstGeom>
          <a:solidFill>
            <a:srgbClr val="EEF4FB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US-A06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1692756" y="5669280"/>
            <a:ext cx="3291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categories and tags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984596" y="5669280"/>
            <a:ext cx="674827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5E6A77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an admin, I want to create, edit, merge or remove categories and tags used by courses and content, so that users can browse the marketplaces consistently.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66876" y="1078992"/>
            <a:ext cx="11365992" cy="320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演示研究所 SlideLab.cc">
            <a:extLst>
              <a:ext uri="{FF2B5EF4-FFF2-40B4-BE49-F238E27FC236}">
                <a16:creationId xmlns:a16="http://schemas.microsoft.com/office/drawing/2014/main" id="{A8865E65-3907-A04C-D75B-9E86953CCCD6}"/>
              </a:ext>
            </a:extLst>
          </p:cNvPr>
          <p:cNvSpPr>
            <a:spLocks noGrp="1"/>
          </p:cNvSpPr>
          <p:nvPr/>
        </p:nvSpPr>
        <p:spPr>
          <a:xfrm rot="5400000">
            <a:off x="840374" y="-697724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演示研究所 SlideLab.cc">
            <a:extLst>
              <a:ext uri="{FF2B5EF4-FFF2-40B4-BE49-F238E27FC236}">
                <a16:creationId xmlns:a16="http://schemas.microsoft.com/office/drawing/2014/main" id="{8018EF99-5BEC-91C7-31E0-53E6BF8E8376}"/>
              </a:ext>
            </a:extLst>
          </p:cNvPr>
          <p:cNvSpPr>
            <a:spLocks noGrp="1"/>
          </p:cNvSpPr>
          <p:nvPr/>
        </p:nvSpPr>
        <p:spPr>
          <a:xfrm>
            <a:off x="-78792" y="445115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演示研究所 SlideLab.cc">
            <a:extLst>
              <a:ext uri="{FF2B5EF4-FFF2-40B4-BE49-F238E27FC236}">
                <a16:creationId xmlns:a16="http://schemas.microsoft.com/office/drawing/2014/main" id="{8092D650-F5E8-541B-2D8F-234444908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E1A6D3EC-6F90-023E-80B9-59273B1A86F3}"/>
              </a:ext>
            </a:extLst>
          </p:cNvPr>
          <p:cNvSpPr>
            <a:spLocks noGrp="1"/>
          </p:cNvSpPr>
          <p:nvPr/>
        </p:nvSpPr>
        <p:spPr>
          <a:xfrm rot="5400000">
            <a:off x="840374" y="-697724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4CD9FFC9-60AC-D065-032A-2072A1CB7E48}"/>
              </a:ext>
            </a:extLst>
          </p:cNvPr>
          <p:cNvSpPr>
            <a:spLocks noGrp="1"/>
          </p:cNvSpPr>
          <p:nvPr/>
        </p:nvSpPr>
        <p:spPr>
          <a:xfrm>
            <a:off x="-78792" y="445115"/>
            <a:ext cx="2430192" cy="36933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Learn X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4C305EF7-8F4F-5ABA-1289-EDA67CCB3A00}"/>
              </a:ext>
            </a:extLst>
          </p:cNvPr>
          <p:cNvSpPr>
            <a:spLocks noGrp="1"/>
          </p:cNvSpPr>
          <p:nvPr/>
        </p:nvSpPr>
        <p:spPr>
          <a:xfrm>
            <a:off x="2684025" y="337393"/>
            <a:ext cx="7327073" cy="584775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1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32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8019F8-991E-2664-9FD3-8FE75CB0D56B}"/>
              </a:ext>
            </a:extLst>
          </p:cNvPr>
          <p:cNvSpPr txBox="1"/>
          <p:nvPr/>
        </p:nvSpPr>
        <p:spPr>
          <a:xfrm>
            <a:off x="720935" y="1073928"/>
            <a:ext cx="1111541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[1]  D.E.W. Technology, “About us,” D.E.W. Technology. [Online]. Available: https://www.dewtech.asia/about-us-2/.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[2]  Google, “Google Classroom — Where teaching and learning come together,” Google for Education. [Online]. Available: https://edu.google.com/workspace-for-education/classroom/.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[3]  Moodle Pty Ltd, “Moodle — Open-source learning platform,” moodle.org. [Online]. Available: https://moodle.org.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[4]  Udemy, Inc., “Instructor revenue share,” Udemy Teaching Center. [Online]. Available: https://support.udemy.com/hc/en-us/articles/229605008.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[5]  GitHub, Inc., “GitHub Docs,” docs.github.com. [Online]. Available: https://docs.github.com.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[6]  Meta Open Source, “React – The library for web and native user interfaces,” </a:t>
            </a:r>
            <a:r>
              <a:rPr lang="en-US" altLang="zh-CN" sz="1100" b="1" dirty="0" err="1"/>
              <a:t>react.dev</a:t>
            </a:r>
            <a:r>
              <a:rPr lang="en-US" altLang="zh-CN" sz="1100" b="1" dirty="0"/>
              <a:t>. [Online]. Available: https://react.dev.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[7]  </a:t>
            </a:r>
            <a:r>
              <a:rPr lang="en-US" altLang="zh-CN" sz="1100" b="1" dirty="0" err="1"/>
              <a:t>OpenJS</a:t>
            </a:r>
            <a:r>
              <a:rPr lang="en-US" altLang="zh-CN" sz="1100" b="1" dirty="0"/>
              <a:t> Foundation, “Express – Node.js web application framework,” expressjs.com. [Online]. Available: https://expressjs.com.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[8]  The PostgreSQL Global Development Group, “PostgreSQL: Documentation,” postgresql.org. [Online]. Available: https://www.postgresql.org/docs/.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[9]  Stripe, “PCI compliance – Stripe Docs,” stripe.com. [Online]. Available: https://stripe.com/docs/security/guide.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[10]  M. Jones, J. Bradley and N. </a:t>
            </a:r>
            <a:r>
              <a:rPr lang="en-US" altLang="zh-CN" sz="1100" b="1" dirty="0" err="1"/>
              <a:t>Sakimura</a:t>
            </a:r>
            <a:r>
              <a:rPr lang="en-US" altLang="zh-CN" sz="1100" b="1" dirty="0"/>
              <a:t>, “JSON Web Token (JWT),” IETF RFC 7519, May 2015. [Online]. Available: https://datatracker.ietf.org/doc/html/rfc7519.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[11]  Personal Data Protection Commission Singapore, “Personal Data Protection Act 2012,” PDPC. [Online]. Available: https://www.pdpc.gov.sg.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[12]  Office of the Australian Information Commissioner, “The Privacy Act 1988,” OAIC. [Online]. Available: https://www.oaic.gov.au/privacy/privacy-legislation.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[13]  OWASP Foundation, “OWASP Top 10:2021,” OWASP. [Online]. Available: https://owasp.org/Top10/. [Accessed: 20-Jul-2026].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[14]  J. Nielsen, “10 usability heuristics for user interface design,” Nielsen Norman Group. [Online]. Available: https://www.nngroup.com/articles/ten-usability-heuristics/. [Accessed: 20-Jul-2026].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36695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演示研究所 SlideLab.c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4" name="演示研究所 SlideLab.cc">
            <a:extLst>
              <a:ext uri="{FF2B5EF4-FFF2-40B4-BE49-F238E27FC236}">
                <a16:creationId xmlns:a16="http://schemas.microsoft.com/office/drawing/2014/main" id="{40DBD828-A74E-AFBF-77C9-EE90202E689F}"/>
              </a:ext>
            </a:extLst>
          </p:cNvPr>
          <p:cNvSpPr>
            <a:spLocks noGrp="1"/>
          </p:cNvSpPr>
          <p:nvPr/>
        </p:nvSpPr>
        <p:spPr>
          <a:xfrm>
            <a:off x="6968430" y="1443402"/>
            <a:ext cx="4148432" cy="41484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9" name="演示研究所 SlideLab.cc">
            <a:extLst>
              <a:ext uri="{FF2B5EF4-FFF2-40B4-BE49-F238E27FC236}">
                <a16:creationId xmlns:a16="http://schemas.microsoft.com/office/drawing/2014/main" id="{81CC0009-B204-4AF2-9D8C-1A9BE52E3ED2}"/>
              </a:ext>
            </a:extLst>
          </p:cNvPr>
          <p:cNvSpPr>
            <a:spLocks noGrp="1"/>
          </p:cNvSpPr>
          <p:nvPr/>
        </p:nvSpPr>
        <p:spPr>
          <a:xfrm>
            <a:off x="6691881" y="1443402"/>
            <a:ext cx="4148432" cy="4148432"/>
          </a:xfrm>
          <a:custGeom>
            <a:avLst/>
            <a:gdLst/>
            <a:ahLst/>
            <a:cxnLst/>
            <a:rect l="l" t="t" r="r" b="b"/>
            <a:pathLst>
              <a:path w="4148432" h="4148432">
                <a:moveTo>
                  <a:pt x="2074215" y="0"/>
                </a:moveTo>
                <a:cubicBezTo>
                  <a:pt x="3219773" y="0"/>
                  <a:pt x="4148432" y="928658"/>
                  <a:pt x="4148432" y="2074216"/>
                </a:cubicBezTo>
                <a:cubicBezTo>
                  <a:pt x="4148432" y="3219774"/>
                  <a:pt x="3219773" y="4148432"/>
                  <a:pt x="2074215" y="4148432"/>
                </a:cubicBezTo>
                <a:cubicBezTo>
                  <a:pt x="928658" y="4148432"/>
                  <a:pt x="0" y="3219774"/>
                  <a:pt x="0" y="2074216"/>
                </a:cubicBezTo>
                <a:cubicBezTo>
                  <a:pt x="0" y="928658"/>
                  <a:pt x="928658" y="0"/>
                  <a:pt x="2074215" y="0"/>
                </a:cubicBezTo>
                <a:close/>
              </a:path>
            </a:pathLst>
          </a:custGeom>
          <a:blipFill>
            <a:blip r:embed="rId4"/>
            <a:srcRect/>
            <a:stretch>
              <a:fillRect t="-25000" b="-25000"/>
            </a:stretch>
          </a:blip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演示研究所 SlideLab.cc">
            <a:extLst>
              <a:ext uri="{FF2B5EF4-FFF2-40B4-BE49-F238E27FC236}">
                <a16:creationId xmlns:a16="http://schemas.microsoft.com/office/drawing/2014/main" id="{F734FEA6-C201-9AB1-4DCA-5D6C02760D6F}"/>
              </a:ext>
            </a:extLst>
          </p:cNvPr>
          <p:cNvSpPr>
            <a:spLocks noGrp="1"/>
          </p:cNvSpPr>
          <p:nvPr/>
        </p:nvSpPr>
        <p:spPr>
          <a:xfrm rot="1023670">
            <a:off x="-761251" y="5688065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C7A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1" name="演示研究所 SlideLab.cc">
            <a:extLst>
              <a:ext uri="{FF2B5EF4-FFF2-40B4-BE49-F238E27FC236}">
                <a16:creationId xmlns:a16="http://schemas.microsoft.com/office/drawing/2014/main" id="{FA47C9D7-9B8A-78B5-4031-6BFF0471C349}"/>
              </a:ext>
            </a:extLst>
          </p:cNvPr>
          <p:cNvSpPr>
            <a:spLocks noGrp="1"/>
          </p:cNvSpPr>
          <p:nvPr/>
        </p:nvSpPr>
        <p:spPr>
          <a:xfrm rot="17258145">
            <a:off x="-12153927" y="4663698"/>
            <a:ext cx="3543941" cy="3556859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17324D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3" name="演示研究所 SlideLab.cc">
            <a:extLst>
              <a:ext uri="{FF2B5EF4-FFF2-40B4-BE49-F238E27FC236}">
                <a16:creationId xmlns:a16="http://schemas.microsoft.com/office/drawing/2014/main" id="{467D6307-6892-DA1D-7B08-55F037554CD6}"/>
              </a:ext>
            </a:extLst>
          </p:cNvPr>
          <p:cNvSpPr>
            <a:spLocks noGrp="1"/>
          </p:cNvSpPr>
          <p:nvPr/>
        </p:nvSpPr>
        <p:spPr>
          <a:xfrm>
            <a:off x="5782500" y="2529729"/>
            <a:ext cx="2145250" cy="21452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演示研究所 SlideLab.cc">
            <a:extLst>
              <a:ext uri="{FF2B5EF4-FFF2-40B4-BE49-F238E27FC236}">
                <a16:creationId xmlns:a16="http://schemas.microsoft.com/office/drawing/2014/main" id="{156B0C8F-7DD8-9FC2-7580-7718D8F6C5F3}"/>
              </a:ext>
            </a:extLst>
          </p:cNvPr>
          <p:cNvSpPr>
            <a:spLocks noGrp="1"/>
          </p:cNvSpPr>
          <p:nvPr/>
        </p:nvSpPr>
        <p:spPr>
          <a:xfrm rot="1023670">
            <a:off x="10327292" y="5591742"/>
            <a:ext cx="2836269" cy="2846607"/>
          </a:xfrm>
          <a:custGeom>
            <a:avLst/>
            <a:gdLst/>
            <a:ahLst/>
            <a:cxnLst/>
            <a:rect l="l" t="t" r="r" b="b"/>
            <a:pathLst>
              <a:path w="3543941" h="3556859">
                <a:moveTo>
                  <a:pt x="526119" y="3050342"/>
                </a:moveTo>
                <a:cubicBezTo>
                  <a:pt x="526119" y="3050342"/>
                  <a:pt x="-661314" y="1591431"/>
                  <a:pt x="531629" y="540604"/>
                </a:cubicBezTo>
                <a:cubicBezTo>
                  <a:pt x="1724572" y="-510222"/>
                  <a:pt x="3191384" y="130618"/>
                  <a:pt x="3473423" y="1104620"/>
                </a:cubicBezTo>
                <a:cubicBezTo>
                  <a:pt x="3755462" y="2078622"/>
                  <a:pt x="3144742" y="3047870"/>
                  <a:pt x="2470660" y="3359257"/>
                </a:cubicBezTo>
                <a:cubicBezTo>
                  <a:pt x="1796578" y="3670645"/>
                  <a:pt x="1059039" y="3646780"/>
                  <a:pt x="526119" y="3050342"/>
                </a:cubicBezTo>
                <a:close/>
              </a:path>
            </a:pathLst>
          </a:custGeom>
          <a:solidFill>
            <a:srgbClr val="148A8B"/>
          </a:solidFill>
          <a:ln w="9499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5" name="演示研究所 SlideLab.cc">
            <a:extLst>
              <a:ext uri="{FF2B5EF4-FFF2-40B4-BE49-F238E27FC236}">
                <a16:creationId xmlns:a16="http://schemas.microsoft.com/office/drawing/2014/main" id="{BAB12B76-DBD3-2798-0DFD-15A960FE40BB}"/>
              </a:ext>
            </a:extLst>
          </p:cNvPr>
          <p:cNvSpPr>
            <a:spLocks noGrp="1"/>
          </p:cNvSpPr>
          <p:nvPr/>
        </p:nvSpPr>
        <p:spPr>
          <a:xfrm rot="5400000">
            <a:off x="840372" y="-492695"/>
            <a:ext cx="773242" cy="261157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演示研究所 SlideLab.cc">
            <a:extLst>
              <a:ext uri="{FF2B5EF4-FFF2-40B4-BE49-F238E27FC236}">
                <a16:creationId xmlns:a16="http://schemas.microsoft.com/office/drawing/2014/main" id="{92BD076E-98C9-718B-D626-231CAF17AEB3}"/>
              </a:ext>
            </a:extLst>
          </p:cNvPr>
          <p:cNvSpPr>
            <a:spLocks noGrp="1"/>
          </p:cNvSpPr>
          <p:nvPr/>
        </p:nvSpPr>
        <p:spPr>
          <a:xfrm>
            <a:off x="-51739" y="628424"/>
            <a:ext cx="2430192" cy="6400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 PLATFORM</a:t>
            </a:r>
          </a:p>
        </p:txBody>
      </p:sp>
      <p:sp>
        <p:nvSpPr>
          <p:cNvPr id="90" name="演示研究所 SlideLab.cc">
            <a:extLst>
              <a:ext uri="{FF2B5EF4-FFF2-40B4-BE49-F238E27FC236}">
                <a16:creationId xmlns:a16="http://schemas.microsoft.com/office/drawing/2014/main" id="{41353D2B-B90F-2873-6CCB-9501A181BCD6}"/>
              </a:ext>
            </a:extLst>
          </p:cNvPr>
          <p:cNvSpPr>
            <a:spLocks noGrp="1"/>
          </p:cNvSpPr>
          <p:nvPr/>
        </p:nvSpPr>
        <p:spPr>
          <a:xfrm>
            <a:off x="154265" y="2021552"/>
            <a:ext cx="6570153" cy="64633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l">
              <a:defRPr sz="3600">
                <a:solidFill>
                  <a:srgbClr val="148A8B"/>
                </a:solidFill>
                <a:latin typeface="Arial"/>
                <a:ea typeface="Arial"/>
                <a:cs typeface="Arial"/>
              </a:defRPr>
            </a:pPr>
            <a:r>
              <a:rPr sz="3600" dirty="0">
                <a:solidFill>
                  <a:srgbClr val="148A8B"/>
                </a:solidFill>
                <a:latin typeface="Arial"/>
                <a:ea typeface="Arial"/>
                <a:cs typeface="Arial"/>
              </a:rPr>
              <a:t>THANK YOU</a:t>
            </a:r>
            <a:r>
              <a:rPr lang="en-US" sz="3600" dirty="0">
                <a:solidFill>
                  <a:srgbClr val="148A8B"/>
                </a:solidFill>
                <a:latin typeface="Arial"/>
                <a:ea typeface="Arial"/>
                <a:cs typeface="Arial"/>
              </a:rPr>
              <a:t> FOR LISTENING</a:t>
            </a:r>
            <a:endParaRPr sz="3600" dirty="0">
              <a:solidFill>
                <a:srgbClr val="148A8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演示研究所 SlideLab.cc">
            <a:extLst>
              <a:ext uri="{FF2B5EF4-FFF2-40B4-BE49-F238E27FC236}">
                <a16:creationId xmlns:a16="http://schemas.microsoft.com/office/drawing/2014/main" id="{2BF347E8-8F5D-A6A4-1682-C5432439F763}"/>
              </a:ext>
            </a:extLst>
          </p:cNvPr>
          <p:cNvSpPr>
            <a:spLocks noGrp="1"/>
          </p:cNvSpPr>
          <p:nvPr/>
        </p:nvSpPr>
        <p:spPr>
          <a:xfrm>
            <a:off x="734596" y="3858315"/>
            <a:ext cx="4935365" cy="6400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lvl1pPr>
              <a:lnSpc>
                <a:spcPct val="150000"/>
              </a:lnSpc>
              <a:buNone/>
              <a:defRPr sz="1200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0" algn="l">
              <a:defRPr sz="120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16B"/>
                </a:solidFill>
                <a:latin typeface="Arial"/>
                <a:ea typeface="Arial"/>
                <a:cs typeface="Arial"/>
              </a:rPr>
              <a:t>Clearer paths, timely feedback, and flexible access help learning continue every day.</a:t>
            </a:r>
          </a:p>
        </p:txBody>
      </p:sp>
      <p:sp>
        <p:nvSpPr>
          <p:cNvPr id="110" name="演示研究所 SlideLab.cc">
            <a:extLst>
              <a:ext uri="{FF2B5EF4-FFF2-40B4-BE49-F238E27FC236}">
                <a16:creationId xmlns:a16="http://schemas.microsoft.com/office/drawing/2014/main" id="{BF55B8F5-ED1E-254E-97E2-DD5431BB1A7B}"/>
              </a:ext>
            </a:extLst>
          </p:cNvPr>
          <p:cNvSpPr>
            <a:spLocks noGrp="1"/>
          </p:cNvSpPr>
          <p:nvPr/>
        </p:nvSpPr>
        <p:spPr>
          <a:xfrm>
            <a:off x="4962317" y="3201492"/>
            <a:ext cx="3785616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ctr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11" name="演示研究所 SlideLab.cc">
            <a:extLst>
              <a:ext uri="{FF2B5EF4-FFF2-40B4-BE49-F238E27FC236}">
                <a16:creationId xmlns:a16="http://schemas.microsoft.com/office/drawing/2014/main" id="{C43FBAB5-B356-FAB6-50BA-937835DB9709}"/>
              </a:ext>
            </a:extLst>
          </p:cNvPr>
          <p:cNvSpPr>
            <a:spLocks noGrp="1"/>
          </p:cNvSpPr>
          <p:nvPr/>
        </p:nvSpPr>
        <p:spPr>
          <a:xfrm>
            <a:off x="737674" y="3275911"/>
            <a:ext cx="3642179" cy="460638"/>
          </a:xfrm>
          <a:prstGeom prst="roundRect">
            <a:avLst>
              <a:gd name="adj" fmla="val 50000"/>
            </a:avLst>
          </a:prstGeom>
          <a:solidFill>
            <a:srgbClr val="E8D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8" name="演示研究所 SlideLab.cc">
            <a:extLst>
              <a:ext uri="{FF2B5EF4-FFF2-40B4-BE49-F238E27FC236}">
                <a16:creationId xmlns:a16="http://schemas.microsoft.com/office/drawing/2014/main" id="{96CD073C-5355-3990-42CE-9DA2513031B1}"/>
              </a:ext>
            </a:extLst>
          </p:cNvPr>
          <p:cNvSpPr>
            <a:spLocks noGrp="1"/>
          </p:cNvSpPr>
          <p:nvPr/>
        </p:nvSpPr>
        <p:spPr>
          <a:xfrm>
            <a:off x="840258" y="2598254"/>
            <a:ext cx="4942242" cy="132343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l">
              <a:defRPr sz="6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6200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CO</a:t>
            </a:r>
            <a:r>
              <a:rPr sz="6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</a:t>
            </a:r>
            <a:r>
              <a:rPr lang="en-US" sz="8000" b="1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X</a:t>
            </a:r>
            <a:endParaRPr sz="8000" b="1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演示研究所 SlideLab.cc">
            <a:extLst>
              <a:ext uri="{FF2B5EF4-FFF2-40B4-BE49-F238E27FC236}">
                <a16:creationId xmlns:a16="http://schemas.microsoft.com/office/drawing/2014/main" id="{800D0AF8-A0A7-5A5A-91A9-F9181EFCB10A}"/>
              </a:ext>
            </a:extLst>
          </p:cNvPr>
          <p:cNvSpPr>
            <a:spLocks noGrp="1"/>
          </p:cNvSpPr>
          <p:nvPr/>
        </p:nvSpPr>
        <p:spPr>
          <a:xfrm rot="16200000">
            <a:off x="3259581" y="384746"/>
            <a:ext cx="359522" cy="846878"/>
          </a:xfrm>
          <a:custGeom>
            <a:avLst/>
            <a:gdLst/>
            <a:ahLst/>
            <a:cxnLst/>
            <a:rect l="l" t="t" r="r" b="b"/>
            <a:pathLst>
              <a:path w="172697" h="406797">
                <a:moveTo>
                  <a:pt x="113059" y="374216"/>
                </a:moveTo>
                <a:cubicBezTo>
                  <a:pt x="113059" y="357675"/>
                  <a:pt x="126491" y="344281"/>
                  <a:pt x="143032" y="344281"/>
                </a:cubicBezTo>
                <a:cubicBezTo>
                  <a:pt x="159572" y="344281"/>
                  <a:pt x="172966" y="357675"/>
                  <a:pt x="172966" y="374216"/>
                </a:cubicBezTo>
                <a:cubicBezTo>
                  <a:pt x="172966" y="390756"/>
                  <a:pt x="159572" y="404188"/>
                  <a:pt x="143032" y="404188"/>
                </a:cubicBezTo>
                <a:cubicBezTo>
                  <a:pt x="126491" y="404188"/>
                  <a:pt x="113059" y="390795"/>
                  <a:pt x="113059" y="374216"/>
                </a:cubicBezTo>
                <a:close/>
                <a:moveTo>
                  <a:pt x="32812" y="404188"/>
                </a:moveTo>
                <a:cubicBezTo>
                  <a:pt x="49353" y="404188"/>
                  <a:pt x="62785" y="390795"/>
                  <a:pt x="62785" y="374216"/>
                </a:cubicBezTo>
                <a:cubicBezTo>
                  <a:pt x="62785" y="357675"/>
                  <a:pt x="49391" y="344281"/>
                  <a:pt x="32812" y="344281"/>
                </a:cubicBezTo>
                <a:cubicBezTo>
                  <a:pt x="16272" y="344281"/>
                  <a:pt x="2878" y="357675"/>
                  <a:pt x="2878" y="374216"/>
                </a:cubicBezTo>
                <a:cubicBezTo>
                  <a:pt x="2878" y="390795"/>
                  <a:pt x="16272" y="404188"/>
                  <a:pt x="32812" y="404188"/>
                </a:cubicBezTo>
                <a:close/>
                <a:moveTo>
                  <a:pt x="143032" y="290400"/>
                </a:moveTo>
                <a:cubicBezTo>
                  <a:pt x="159572" y="290400"/>
                  <a:pt x="172966" y="277006"/>
                  <a:pt x="172966" y="260427"/>
                </a:cubicBezTo>
                <a:cubicBezTo>
                  <a:pt x="172966" y="243887"/>
                  <a:pt x="159572" y="230493"/>
                  <a:pt x="143032" y="230493"/>
                </a:cubicBezTo>
                <a:cubicBezTo>
                  <a:pt x="126491" y="230493"/>
                  <a:pt x="113059" y="243887"/>
                  <a:pt x="113059" y="260427"/>
                </a:cubicBezTo>
                <a:cubicBezTo>
                  <a:pt x="113059" y="277006"/>
                  <a:pt x="126491" y="290400"/>
                  <a:pt x="143032" y="290400"/>
                </a:cubicBezTo>
                <a:close/>
                <a:moveTo>
                  <a:pt x="32812" y="290400"/>
                </a:moveTo>
                <a:cubicBezTo>
                  <a:pt x="49353" y="290400"/>
                  <a:pt x="62785" y="277006"/>
                  <a:pt x="62785" y="260427"/>
                </a:cubicBezTo>
                <a:cubicBezTo>
                  <a:pt x="62785" y="243887"/>
                  <a:pt x="49391" y="230493"/>
                  <a:pt x="32812" y="230493"/>
                </a:cubicBezTo>
                <a:cubicBezTo>
                  <a:pt x="16272" y="230493"/>
                  <a:pt x="2878" y="243887"/>
                  <a:pt x="2878" y="260427"/>
                </a:cubicBezTo>
                <a:cubicBezTo>
                  <a:pt x="2878" y="277006"/>
                  <a:pt x="16272" y="290400"/>
                  <a:pt x="32812" y="290400"/>
                </a:cubicBezTo>
                <a:close/>
                <a:moveTo>
                  <a:pt x="143032" y="176573"/>
                </a:moveTo>
                <a:cubicBezTo>
                  <a:pt x="159572" y="176573"/>
                  <a:pt x="172966" y="163180"/>
                  <a:pt x="172966" y="146639"/>
                </a:cubicBezTo>
                <a:cubicBezTo>
                  <a:pt x="172966" y="130098"/>
                  <a:pt x="159572" y="116666"/>
                  <a:pt x="143032" y="116666"/>
                </a:cubicBezTo>
                <a:cubicBezTo>
                  <a:pt x="126491" y="116666"/>
                  <a:pt x="113059" y="130060"/>
                  <a:pt x="113059" y="146639"/>
                </a:cubicBezTo>
                <a:cubicBezTo>
                  <a:pt x="113059" y="163180"/>
                  <a:pt x="126491" y="176573"/>
                  <a:pt x="143032" y="176573"/>
                </a:cubicBezTo>
                <a:close/>
                <a:moveTo>
                  <a:pt x="32812" y="176573"/>
                </a:moveTo>
                <a:cubicBezTo>
                  <a:pt x="49353" y="176573"/>
                  <a:pt x="62785" y="163180"/>
                  <a:pt x="62785" y="146639"/>
                </a:cubicBezTo>
                <a:cubicBezTo>
                  <a:pt x="62785" y="130098"/>
                  <a:pt x="49391" y="116666"/>
                  <a:pt x="32812" y="116666"/>
                </a:cubicBezTo>
                <a:cubicBezTo>
                  <a:pt x="16272" y="116666"/>
                  <a:pt x="2878" y="130060"/>
                  <a:pt x="2878" y="146639"/>
                </a:cubicBezTo>
                <a:cubicBezTo>
                  <a:pt x="2878" y="163180"/>
                  <a:pt x="16272" y="176573"/>
                  <a:pt x="32812" y="176573"/>
                </a:cubicBezTo>
                <a:close/>
                <a:moveTo>
                  <a:pt x="143032" y="62785"/>
                </a:moveTo>
                <a:cubicBezTo>
                  <a:pt x="159572" y="62785"/>
                  <a:pt x="172966" y="49391"/>
                  <a:pt x="172966" y="32851"/>
                </a:cubicBezTo>
                <a:cubicBezTo>
                  <a:pt x="172966" y="16310"/>
                  <a:pt x="159572" y="2878"/>
                  <a:pt x="143032" y="2878"/>
                </a:cubicBezTo>
                <a:cubicBezTo>
                  <a:pt x="126491" y="2878"/>
                  <a:pt x="113059" y="16272"/>
                  <a:pt x="113059" y="32851"/>
                </a:cubicBezTo>
                <a:cubicBezTo>
                  <a:pt x="113059" y="49391"/>
                  <a:pt x="126491" y="62785"/>
                  <a:pt x="143032" y="62785"/>
                </a:cubicBezTo>
                <a:close/>
                <a:moveTo>
                  <a:pt x="32812" y="62785"/>
                </a:moveTo>
                <a:cubicBezTo>
                  <a:pt x="49353" y="62785"/>
                  <a:pt x="62785" y="49391"/>
                  <a:pt x="62785" y="32851"/>
                </a:cubicBezTo>
                <a:cubicBezTo>
                  <a:pt x="62785" y="16310"/>
                  <a:pt x="49391" y="2878"/>
                  <a:pt x="32812" y="2878"/>
                </a:cubicBezTo>
                <a:cubicBezTo>
                  <a:pt x="16272" y="2878"/>
                  <a:pt x="2878" y="16272"/>
                  <a:pt x="2878" y="32851"/>
                </a:cubicBezTo>
                <a:cubicBezTo>
                  <a:pt x="2878" y="49391"/>
                  <a:pt x="16272" y="62785"/>
                  <a:pt x="32812" y="62785"/>
                </a:cubicBezTo>
                <a:close/>
              </a:path>
            </a:pathLst>
          </a:custGeom>
          <a:solidFill>
            <a:srgbClr val="148A8B"/>
          </a:solidFill>
          <a:ln w="9525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6" name="演示研究所 SlideLab.cc">
            <a:extLst>
              <a:ext uri="{FF2B5EF4-FFF2-40B4-BE49-F238E27FC236}">
                <a16:creationId xmlns:a16="http://schemas.microsoft.com/office/drawing/2014/main" id="{2ECA7888-64F8-1FED-1813-80E124F28A69}"/>
              </a:ext>
            </a:extLst>
          </p:cNvPr>
          <p:cNvSpPr>
            <a:spLocks noGrp="1"/>
          </p:cNvSpPr>
          <p:nvPr/>
        </p:nvSpPr>
        <p:spPr>
          <a:xfrm>
            <a:off x="11924855" y="4674341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7" name="演示研究所 SlideLab.cc">
            <a:extLst>
              <a:ext uri="{FF2B5EF4-FFF2-40B4-BE49-F238E27FC236}">
                <a16:creationId xmlns:a16="http://schemas.microsoft.com/office/drawing/2014/main" id="{B5C18E22-E988-A22B-0459-35AF54F3CF60}"/>
              </a:ext>
            </a:extLst>
          </p:cNvPr>
          <p:cNvSpPr>
            <a:spLocks noGrp="1"/>
          </p:cNvSpPr>
          <p:nvPr/>
        </p:nvSpPr>
        <p:spPr>
          <a:xfrm>
            <a:off x="11769920" y="4674341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8" name="演示研究所 SlideLab.cc">
            <a:extLst>
              <a:ext uri="{FF2B5EF4-FFF2-40B4-BE49-F238E27FC236}">
                <a16:creationId xmlns:a16="http://schemas.microsoft.com/office/drawing/2014/main" id="{D722AF6D-6D9E-A3AC-7D51-B2935D302C08}"/>
              </a:ext>
            </a:extLst>
          </p:cNvPr>
          <p:cNvSpPr>
            <a:spLocks noGrp="1"/>
          </p:cNvSpPr>
          <p:nvPr/>
        </p:nvSpPr>
        <p:spPr>
          <a:xfrm>
            <a:off x="11614866" y="4674341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9" name="演示研究所 SlideLab.cc">
            <a:extLst>
              <a:ext uri="{FF2B5EF4-FFF2-40B4-BE49-F238E27FC236}">
                <a16:creationId xmlns:a16="http://schemas.microsoft.com/office/drawing/2014/main" id="{F3A42079-5E33-F9C7-16EC-1A09F0936E19}"/>
              </a:ext>
            </a:extLst>
          </p:cNvPr>
          <p:cNvSpPr>
            <a:spLocks noGrp="1"/>
          </p:cNvSpPr>
          <p:nvPr/>
        </p:nvSpPr>
        <p:spPr>
          <a:xfrm>
            <a:off x="11459931" y="4674341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0" name="演示研究所 SlideLab.cc">
            <a:extLst>
              <a:ext uri="{FF2B5EF4-FFF2-40B4-BE49-F238E27FC236}">
                <a16:creationId xmlns:a16="http://schemas.microsoft.com/office/drawing/2014/main" id="{12B18259-AAE5-4E0C-5B41-9BDF9211B6E7}"/>
              </a:ext>
            </a:extLst>
          </p:cNvPr>
          <p:cNvSpPr>
            <a:spLocks noGrp="1"/>
          </p:cNvSpPr>
          <p:nvPr/>
        </p:nvSpPr>
        <p:spPr>
          <a:xfrm>
            <a:off x="11304519" y="467434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6">
                <a:moveTo>
                  <a:pt x="79715" y="158869"/>
                </a:moveTo>
                <a:cubicBezTo>
                  <a:pt x="123166" y="158293"/>
                  <a:pt x="157927" y="122263"/>
                  <a:pt x="157356" y="78394"/>
                </a:cubicBezTo>
                <a:cubicBezTo>
                  <a:pt x="156785" y="34526"/>
                  <a:pt x="121098" y="-569"/>
                  <a:pt x="77648" y="7"/>
                </a:cubicBezTo>
                <a:cubicBezTo>
                  <a:pt x="34335" y="582"/>
                  <a:pt x="-372" y="36394"/>
                  <a:pt x="3" y="80125"/>
                </a:cubicBezTo>
                <a:cubicBezTo>
                  <a:pt x="379" y="123996"/>
                  <a:pt x="35909" y="159252"/>
                  <a:pt x="79362" y="158873"/>
                </a:cubicBezTo>
                <a:cubicBezTo>
                  <a:pt x="79480" y="158872"/>
                  <a:pt x="79597" y="158871"/>
                  <a:pt x="79715" y="158869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1" name="演示研究所 SlideLab.cc">
            <a:extLst>
              <a:ext uri="{FF2B5EF4-FFF2-40B4-BE49-F238E27FC236}">
                <a16:creationId xmlns:a16="http://schemas.microsoft.com/office/drawing/2014/main" id="{266C6A86-BBE3-57BA-108C-3149CEF38D91}"/>
              </a:ext>
            </a:extLst>
          </p:cNvPr>
          <p:cNvSpPr>
            <a:spLocks noGrp="1"/>
          </p:cNvSpPr>
          <p:nvPr/>
        </p:nvSpPr>
        <p:spPr>
          <a:xfrm>
            <a:off x="11149942" y="4674341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2" name="演示研究所 SlideLab.cc">
            <a:extLst>
              <a:ext uri="{FF2B5EF4-FFF2-40B4-BE49-F238E27FC236}">
                <a16:creationId xmlns:a16="http://schemas.microsoft.com/office/drawing/2014/main" id="{7945BD26-C53D-9C1D-E350-B11A64136CB1}"/>
              </a:ext>
            </a:extLst>
          </p:cNvPr>
          <p:cNvSpPr>
            <a:spLocks noGrp="1"/>
          </p:cNvSpPr>
          <p:nvPr/>
        </p:nvSpPr>
        <p:spPr>
          <a:xfrm>
            <a:off x="11924855" y="4508073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3" name="演示研究所 SlideLab.cc">
            <a:extLst>
              <a:ext uri="{FF2B5EF4-FFF2-40B4-BE49-F238E27FC236}">
                <a16:creationId xmlns:a16="http://schemas.microsoft.com/office/drawing/2014/main" id="{329140D5-3C5B-E14C-B2D4-BE5466A3EE1D}"/>
              </a:ext>
            </a:extLst>
          </p:cNvPr>
          <p:cNvSpPr>
            <a:spLocks noGrp="1"/>
          </p:cNvSpPr>
          <p:nvPr/>
        </p:nvSpPr>
        <p:spPr>
          <a:xfrm>
            <a:off x="11769920" y="4508073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4" name="演示研究所 SlideLab.cc">
            <a:extLst>
              <a:ext uri="{FF2B5EF4-FFF2-40B4-BE49-F238E27FC236}">
                <a16:creationId xmlns:a16="http://schemas.microsoft.com/office/drawing/2014/main" id="{A3CBF43E-10CB-176E-FAD6-3C0B426070C4}"/>
              </a:ext>
            </a:extLst>
          </p:cNvPr>
          <p:cNvSpPr>
            <a:spLocks noGrp="1"/>
          </p:cNvSpPr>
          <p:nvPr/>
        </p:nvSpPr>
        <p:spPr>
          <a:xfrm>
            <a:off x="11614866" y="4508073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5" name="演示研究所 SlideLab.cc">
            <a:extLst>
              <a:ext uri="{FF2B5EF4-FFF2-40B4-BE49-F238E27FC236}">
                <a16:creationId xmlns:a16="http://schemas.microsoft.com/office/drawing/2014/main" id="{E38A6E7A-0FE0-451B-4C5A-BEA24C5B897D}"/>
              </a:ext>
            </a:extLst>
          </p:cNvPr>
          <p:cNvSpPr>
            <a:spLocks noGrp="1"/>
          </p:cNvSpPr>
          <p:nvPr/>
        </p:nvSpPr>
        <p:spPr>
          <a:xfrm>
            <a:off x="11459931" y="4508073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6" name="演示研究所 SlideLab.cc">
            <a:extLst>
              <a:ext uri="{FF2B5EF4-FFF2-40B4-BE49-F238E27FC236}">
                <a16:creationId xmlns:a16="http://schemas.microsoft.com/office/drawing/2014/main" id="{DC40BA4E-255C-B533-29FC-2BC2E9E5FF20}"/>
              </a:ext>
            </a:extLst>
          </p:cNvPr>
          <p:cNvSpPr>
            <a:spLocks noGrp="1"/>
          </p:cNvSpPr>
          <p:nvPr/>
        </p:nvSpPr>
        <p:spPr>
          <a:xfrm>
            <a:off x="11304520" y="4508075"/>
            <a:ext cx="54459" cy="54984"/>
          </a:xfrm>
          <a:custGeom>
            <a:avLst/>
            <a:gdLst/>
            <a:ahLst/>
            <a:cxnLst/>
            <a:rect l="l" t="t" r="r" b="b"/>
            <a:pathLst>
              <a:path w="157363" h="158881">
                <a:moveTo>
                  <a:pt x="79713" y="158869"/>
                </a:moveTo>
                <a:cubicBezTo>
                  <a:pt x="123164" y="158294"/>
                  <a:pt x="157926" y="122266"/>
                  <a:pt x="157357" y="78397"/>
                </a:cubicBezTo>
                <a:cubicBezTo>
                  <a:pt x="156787" y="34529"/>
                  <a:pt x="121102" y="-568"/>
                  <a:pt x="77651" y="7"/>
                </a:cubicBezTo>
                <a:cubicBezTo>
                  <a:pt x="34605" y="576"/>
                  <a:pt x="5" y="35967"/>
                  <a:pt x="1" y="79431"/>
                </a:cubicBezTo>
                <a:cubicBezTo>
                  <a:pt x="-196" y="123111"/>
                  <a:pt x="34718" y="158682"/>
                  <a:pt x="77982" y="158880"/>
                </a:cubicBezTo>
                <a:cubicBezTo>
                  <a:pt x="78559" y="158883"/>
                  <a:pt x="79136" y="158879"/>
                  <a:pt x="79713" y="158869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7" name="演示研究所 SlideLab.cc">
            <a:extLst>
              <a:ext uri="{FF2B5EF4-FFF2-40B4-BE49-F238E27FC236}">
                <a16:creationId xmlns:a16="http://schemas.microsoft.com/office/drawing/2014/main" id="{D08D976A-A23D-3A56-B6FB-4DFCB8DEABA0}"/>
              </a:ext>
            </a:extLst>
          </p:cNvPr>
          <p:cNvSpPr>
            <a:spLocks noGrp="1"/>
          </p:cNvSpPr>
          <p:nvPr/>
        </p:nvSpPr>
        <p:spPr>
          <a:xfrm rot="-550833">
            <a:off x="11149721" y="4508622"/>
            <a:ext cx="54613" cy="55138"/>
          </a:xfrm>
          <a:custGeom>
            <a:avLst/>
            <a:gdLst/>
            <a:ahLst/>
            <a:cxnLst/>
            <a:rect l="l" t="t" r="r" b="b"/>
            <a:pathLst>
              <a:path w="157810" h="159327">
                <a:moveTo>
                  <a:pt x="157810" y="79664"/>
                </a:moveTo>
                <a:cubicBezTo>
                  <a:pt x="157810" y="123661"/>
                  <a:pt x="122483" y="159328"/>
                  <a:pt x="78905" y="159328"/>
                </a:cubicBezTo>
                <a:cubicBezTo>
                  <a:pt x="35327" y="159328"/>
                  <a:pt x="0" y="123661"/>
                  <a:pt x="0" y="79664"/>
                </a:cubicBezTo>
                <a:cubicBezTo>
                  <a:pt x="0" y="35667"/>
                  <a:pt x="35327" y="0"/>
                  <a:pt x="78905" y="0"/>
                </a:cubicBezTo>
                <a:cubicBezTo>
                  <a:pt x="122483" y="0"/>
                  <a:pt x="157810" y="35667"/>
                  <a:pt x="157810" y="79664"/>
                </a:cubicBezTo>
                <a:close/>
              </a:path>
            </a:pathLst>
          </a:custGeom>
          <a:grpFill/>
          <a:ln w="34388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8" name="演示研究所 SlideLab.cc">
            <a:extLst>
              <a:ext uri="{FF2B5EF4-FFF2-40B4-BE49-F238E27FC236}">
                <a16:creationId xmlns:a16="http://schemas.microsoft.com/office/drawing/2014/main" id="{83EC31FD-412B-6721-03CF-23303A259EB4}"/>
              </a:ext>
            </a:extLst>
          </p:cNvPr>
          <p:cNvSpPr>
            <a:spLocks noGrp="1"/>
          </p:cNvSpPr>
          <p:nvPr/>
        </p:nvSpPr>
        <p:spPr>
          <a:xfrm>
            <a:off x="11924855" y="434192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9" name="演示研究所 SlideLab.cc">
            <a:extLst>
              <a:ext uri="{FF2B5EF4-FFF2-40B4-BE49-F238E27FC236}">
                <a16:creationId xmlns:a16="http://schemas.microsoft.com/office/drawing/2014/main" id="{D80A178E-AF68-BBC0-591D-13258C3518D8}"/>
              </a:ext>
            </a:extLst>
          </p:cNvPr>
          <p:cNvSpPr>
            <a:spLocks noGrp="1"/>
          </p:cNvSpPr>
          <p:nvPr/>
        </p:nvSpPr>
        <p:spPr>
          <a:xfrm>
            <a:off x="11769920" y="434192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0" name="演示研究所 SlideLab.cc">
            <a:extLst>
              <a:ext uri="{FF2B5EF4-FFF2-40B4-BE49-F238E27FC236}">
                <a16:creationId xmlns:a16="http://schemas.microsoft.com/office/drawing/2014/main" id="{17DEA72B-B9E1-5A08-53F2-09853E01F9E6}"/>
              </a:ext>
            </a:extLst>
          </p:cNvPr>
          <p:cNvSpPr>
            <a:spLocks noGrp="1"/>
          </p:cNvSpPr>
          <p:nvPr/>
        </p:nvSpPr>
        <p:spPr>
          <a:xfrm>
            <a:off x="11614866" y="434192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1" name="演示研究所 SlideLab.cc">
            <a:extLst>
              <a:ext uri="{FF2B5EF4-FFF2-40B4-BE49-F238E27FC236}">
                <a16:creationId xmlns:a16="http://schemas.microsoft.com/office/drawing/2014/main" id="{FFC9C2D6-DB97-0B47-5486-131297C83C59}"/>
              </a:ext>
            </a:extLst>
          </p:cNvPr>
          <p:cNvSpPr>
            <a:spLocks noGrp="1"/>
          </p:cNvSpPr>
          <p:nvPr/>
        </p:nvSpPr>
        <p:spPr>
          <a:xfrm>
            <a:off x="11459931" y="434192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2" name="演示研究所 SlideLab.cc">
            <a:extLst>
              <a:ext uri="{FF2B5EF4-FFF2-40B4-BE49-F238E27FC236}">
                <a16:creationId xmlns:a16="http://schemas.microsoft.com/office/drawing/2014/main" id="{81CD6406-3345-2034-5D38-A64159122178}"/>
              </a:ext>
            </a:extLst>
          </p:cNvPr>
          <p:cNvSpPr>
            <a:spLocks noGrp="1"/>
          </p:cNvSpPr>
          <p:nvPr/>
        </p:nvSpPr>
        <p:spPr>
          <a:xfrm>
            <a:off x="11304520" y="4341806"/>
            <a:ext cx="54458" cy="54984"/>
          </a:xfrm>
          <a:custGeom>
            <a:avLst/>
            <a:gdLst/>
            <a:ahLst/>
            <a:cxnLst/>
            <a:rect l="l" t="t" r="r" b="b"/>
            <a:pathLst>
              <a:path w="157362" h="158881">
                <a:moveTo>
                  <a:pt x="79713" y="158869"/>
                </a:moveTo>
                <a:cubicBezTo>
                  <a:pt x="123164" y="158294"/>
                  <a:pt x="157926" y="122265"/>
                  <a:pt x="157356" y="78397"/>
                </a:cubicBezTo>
                <a:cubicBezTo>
                  <a:pt x="156786" y="34528"/>
                  <a:pt x="121101" y="-568"/>
                  <a:pt x="77650" y="7"/>
                </a:cubicBezTo>
                <a:cubicBezTo>
                  <a:pt x="34470" y="579"/>
                  <a:pt x="-184" y="36180"/>
                  <a:pt x="1" y="79778"/>
                </a:cubicBezTo>
                <a:cubicBezTo>
                  <a:pt x="-6" y="123459"/>
                  <a:pt x="35062" y="158875"/>
                  <a:pt x="78326" y="158881"/>
                </a:cubicBezTo>
                <a:cubicBezTo>
                  <a:pt x="78789" y="158881"/>
                  <a:pt x="79251" y="158877"/>
                  <a:pt x="79713" y="158869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3" name="演示研究所 SlideLab.cc">
            <a:extLst>
              <a:ext uri="{FF2B5EF4-FFF2-40B4-BE49-F238E27FC236}">
                <a16:creationId xmlns:a16="http://schemas.microsoft.com/office/drawing/2014/main" id="{4ABF7832-B5E0-BA38-A6EB-FE98DDEFE2BB}"/>
              </a:ext>
            </a:extLst>
          </p:cNvPr>
          <p:cNvSpPr>
            <a:spLocks noGrp="1"/>
          </p:cNvSpPr>
          <p:nvPr/>
        </p:nvSpPr>
        <p:spPr>
          <a:xfrm rot="-555600">
            <a:off x="11149926" y="4341944"/>
            <a:ext cx="54458" cy="54982"/>
          </a:xfrm>
          <a:custGeom>
            <a:avLst/>
            <a:gdLst/>
            <a:ahLst/>
            <a:cxnLst/>
            <a:rect l="l" t="t" r="r" b="b"/>
            <a:pathLst>
              <a:path w="157362" h="158875">
                <a:moveTo>
                  <a:pt x="157363" y="79438"/>
                </a:moveTo>
                <a:cubicBezTo>
                  <a:pt x="157363" y="123310"/>
                  <a:pt x="122136" y="158876"/>
                  <a:pt x="78681" y="158876"/>
                </a:cubicBezTo>
                <a:cubicBezTo>
                  <a:pt x="35227" y="158876"/>
                  <a:pt x="0" y="123310"/>
                  <a:pt x="0" y="79438"/>
                </a:cubicBezTo>
                <a:cubicBezTo>
                  <a:pt x="0" y="35566"/>
                  <a:pt x="35227" y="0"/>
                  <a:pt x="78681" y="0"/>
                </a:cubicBezTo>
                <a:cubicBezTo>
                  <a:pt x="122136" y="0"/>
                  <a:pt x="157363" y="35566"/>
                  <a:pt x="157363" y="79438"/>
                </a:cubicBezTo>
                <a:close/>
              </a:path>
            </a:pathLst>
          </a:custGeom>
          <a:grpFill/>
          <a:ln w="3429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9" name="演示研究所 SlideLab.cc">
            <a:extLst>
              <a:ext uri="{FF2B5EF4-FFF2-40B4-BE49-F238E27FC236}">
                <a16:creationId xmlns:a16="http://schemas.microsoft.com/office/drawing/2014/main" id="{98BD9A7F-649B-422E-A78D-11936D1B910E}"/>
              </a:ext>
            </a:extLst>
          </p:cNvPr>
          <p:cNvSpPr>
            <a:spLocks noGrp="1"/>
          </p:cNvSpPr>
          <p:nvPr/>
        </p:nvSpPr>
        <p:spPr>
          <a:xfrm>
            <a:off x="4069872" y="4734447"/>
            <a:ext cx="1051781" cy="3077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l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GROW</a:t>
            </a: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11C7BB46-D97E-B920-F050-32841787D4A6}"/>
              </a:ext>
            </a:extLst>
          </p:cNvPr>
          <p:cNvSpPr>
            <a:spLocks noGrp="1"/>
          </p:cNvSpPr>
          <p:nvPr/>
        </p:nvSpPr>
        <p:spPr>
          <a:xfrm>
            <a:off x="770354" y="4699373"/>
            <a:ext cx="3885997" cy="988105"/>
          </a:xfrm>
          <a:prstGeom prst="roundRect">
            <a:avLst>
              <a:gd name="adj" fmla="val 50000"/>
            </a:avLst>
          </a:prstGeom>
          <a:solidFill>
            <a:srgbClr val="17324D"/>
          </a:solidFill>
          <a:ln>
            <a:noFill/>
          </a:ln>
          <a:effectLst>
            <a:outerShdw blurRad="139700" dist="1270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 dirty="0"/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33128F8C-E55D-00BE-A68B-15D6A278C839}"/>
              </a:ext>
            </a:extLst>
          </p:cNvPr>
          <p:cNvSpPr>
            <a:spLocks noGrp="1"/>
          </p:cNvSpPr>
          <p:nvPr/>
        </p:nvSpPr>
        <p:spPr>
          <a:xfrm>
            <a:off x="1276536" y="4743493"/>
            <a:ext cx="2960379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0" algn="l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Group: B03</a:t>
            </a:r>
          </a:p>
          <a:p>
            <a:pPr marL="0" algn="l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CHENSHIBO  WANGFUMING</a:t>
            </a:r>
          </a:p>
          <a:p>
            <a:pPr marL="0" algn="l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LIGUONING WANGZEHAO</a:t>
            </a:r>
          </a:p>
          <a:p>
            <a:pPr marL="0" algn="l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YANGFENG CHENDAILIN      </a:t>
            </a:r>
            <a:endParaRPr sz="12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3685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35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F4C8E"/>
      </a:accent1>
      <a:accent2>
        <a:srgbClr val="009BA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自定义 135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自定义 135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F4C8E"/>
      </a:accent1>
      <a:accent2>
        <a:srgbClr val="009BA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自定义 135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8307</Words>
  <Application>Microsoft Office PowerPoint</Application>
  <DocSecurity>0</DocSecurity>
  <PresentationFormat>宽屏</PresentationFormat>
  <Paragraphs>383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Aptos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likores kaslana</cp:lastModifiedBy>
  <cp:revision>34</cp:revision>
  <dcterms:created xsi:type="dcterms:W3CDTF">2026-07-25T16:43:57Z</dcterms:created>
  <dcterms:modified xsi:type="dcterms:W3CDTF">2026-07-27T09:59:58Z</dcterms:modified>
</cp:coreProperties>
</file>